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70" r:id="rId4"/>
    <p:sldId id="258" r:id="rId5"/>
    <p:sldId id="259" r:id="rId6"/>
    <p:sldId id="260" r:id="rId7"/>
    <p:sldId id="261" r:id="rId8"/>
    <p:sldId id="273" r:id="rId9"/>
    <p:sldId id="262" r:id="rId10"/>
    <p:sldId id="274" r:id="rId11"/>
    <p:sldId id="271" r:id="rId12"/>
    <p:sldId id="263" r:id="rId13"/>
    <p:sldId id="272" r:id="rId14"/>
    <p:sldId id="275" r:id="rId15"/>
    <p:sldId id="264" r:id="rId16"/>
    <p:sldId id="266" r:id="rId17"/>
    <p:sldId id="267" r:id="rId18"/>
    <p:sldId id="268"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1" d="100"/>
          <a:sy n="81" d="100"/>
        </p:scale>
        <p:origin x="1498"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10/31/2025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10/31/2025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10/31/2025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10/31/2025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machine-learning-project-wocdtcb3bbc2cmt5bhgven.streamlit.app/" TargetMode="External"/><Relationship Id="rId2" Type="http://schemas.openxmlformats.org/officeDocument/2006/relationships/hyperlink" Target="https://catalog.data.gov/dataset/licensed-and-certified-healthcare-facility-listing-6e3f9" TargetMode="External"/><Relationship Id="rId1" Type="http://schemas.openxmlformats.org/officeDocument/2006/relationships/slideLayout" Target="../slideLayouts/slideLayout1.xml"/><Relationship Id="rId4" Type="http://schemas.openxmlformats.org/officeDocument/2006/relationships/hyperlink" Target="https://colab.research.google.com/drive/1JlL-Ic4M98-fwZWrLnONPdgxTxt6gTkE?usp=sharing"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0386" y="377040"/>
            <a:ext cx="7772400" cy="1470025"/>
          </a:xfrm>
        </p:spPr>
        <p:txBody>
          <a:bodyPr>
            <a:normAutofit/>
          </a:bodyPr>
          <a:lstStyle/>
          <a:p>
            <a:r>
              <a:rPr lang="en-US" sz="4000" b="1" dirty="0">
                <a:latin typeface="Times New Roman" panose="02020603050405020304" pitchFamily="18" charset="0"/>
                <a:cs typeface="Times New Roman" panose="02020603050405020304" pitchFamily="18" charset="0"/>
              </a:rPr>
              <a:t>MACHINE LEARNING PROJECT</a:t>
            </a:r>
            <a:endParaRPr sz="4000"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503576" y="2388222"/>
            <a:ext cx="6400800" cy="1752600"/>
          </a:xfrm>
        </p:spPr>
        <p:txBody>
          <a:bodyPr>
            <a:normAutofit/>
          </a:bodyPr>
          <a:lstStyle/>
          <a:p>
            <a:r>
              <a:rPr lang="en-US" sz="2800" dirty="0">
                <a:solidFill>
                  <a:schemeClr val="tx1"/>
                </a:solidFill>
                <a:latin typeface="Times New Roman" panose="02020603050405020304" pitchFamily="18" charset="0"/>
                <a:cs typeface="Times New Roman" panose="02020603050405020304" pitchFamily="18" charset="0"/>
              </a:rPr>
              <a:t>TAMANNA VAIKKATH</a:t>
            </a:r>
          </a:p>
          <a:p>
            <a:r>
              <a:rPr lang="en-US" sz="2800" dirty="0">
                <a:solidFill>
                  <a:schemeClr val="tx1"/>
                </a:solidFill>
                <a:latin typeface="Times New Roman" panose="02020603050405020304" pitchFamily="18" charset="0"/>
                <a:cs typeface="Times New Roman" panose="02020603050405020304" pitchFamily="18" charset="0"/>
              </a:rPr>
              <a:t>22070521094</a:t>
            </a:r>
          </a:p>
          <a:p>
            <a:r>
              <a:rPr lang="en-US" sz="2800" dirty="0">
                <a:solidFill>
                  <a:schemeClr val="tx1"/>
                </a:solidFill>
                <a:latin typeface="Times New Roman" panose="02020603050405020304" pitchFamily="18" charset="0"/>
                <a:cs typeface="Times New Roman" panose="02020603050405020304" pitchFamily="18" charset="0"/>
              </a:rPr>
              <a:t>SECTION C</a:t>
            </a:r>
          </a:p>
          <a:p>
            <a:endParaRPr sz="2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590BA24-F065-5406-04AB-15F5BA658A75}"/>
              </a:ext>
            </a:extLst>
          </p:cNvPr>
          <p:cNvPicPr>
            <a:picLocks noChangeAspect="1"/>
          </p:cNvPicPr>
          <p:nvPr/>
        </p:nvPicPr>
        <p:blipFill>
          <a:blip r:embed="rId2"/>
          <a:stretch>
            <a:fillRect/>
          </a:stretch>
        </p:blipFill>
        <p:spPr>
          <a:xfrm>
            <a:off x="1138237" y="4681980"/>
            <a:ext cx="6867525" cy="1981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Project Overview</a:t>
            </a:r>
            <a:endParaRPr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lnSpcReduction="10000"/>
          </a:bodyPr>
          <a:lstStyle/>
          <a:p>
            <a:r>
              <a:rPr lang="en-US" sz="1800" dirty="0">
                <a:latin typeface="Arial" panose="020B0604020202020204" pitchFamily="34" charset="0"/>
                <a:cs typeface="Arial" panose="020B0604020202020204" pitchFamily="34" charset="0"/>
              </a:rPr>
              <a:t>This project focuses on analyzing and modeling data from the </a:t>
            </a:r>
            <a:r>
              <a:rPr lang="en-US" sz="1800" b="1" dirty="0">
                <a:latin typeface="Arial" panose="020B0604020202020204" pitchFamily="34" charset="0"/>
                <a:cs typeface="Arial" panose="020B0604020202020204" pitchFamily="34" charset="0"/>
              </a:rPr>
              <a:t>California Health Facility Listings</a:t>
            </a:r>
            <a:r>
              <a:rPr lang="en-US" sz="1800" dirty="0">
                <a:latin typeface="Arial" panose="020B0604020202020204" pitchFamily="34" charset="0"/>
                <a:cs typeface="Arial" panose="020B0604020202020204" pitchFamily="34" charset="0"/>
              </a:rPr>
              <a:t> to understand the operational, geographic, and licensing patterns of healthcare institutions across the state.</a:t>
            </a:r>
          </a:p>
          <a:p>
            <a:r>
              <a:rPr lang="en-US" sz="1800" dirty="0">
                <a:latin typeface="Arial" panose="020B0604020202020204" pitchFamily="34" charset="0"/>
                <a:cs typeface="Arial" panose="020B0604020202020204" pitchFamily="34" charset="0"/>
              </a:rPr>
              <a:t>The aim is to explore relationships between attributes such as </a:t>
            </a:r>
            <a:r>
              <a:rPr lang="en-US" sz="1800" b="1" dirty="0">
                <a:latin typeface="Arial" panose="020B0604020202020204" pitchFamily="34" charset="0"/>
                <a:cs typeface="Arial" panose="020B0604020202020204" pitchFamily="34" charset="0"/>
              </a:rPr>
              <a:t>facility type, license status, approval dates, and capacity</a:t>
            </a:r>
            <a:r>
              <a:rPr lang="en-US" sz="1800" dirty="0">
                <a:latin typeface="Arial" panose="020B0604020202020204" pitchFamily="34" charset="0"/>
                <a:cs typeface="Arial" panose="020B0604020202020204" pitchFamily="34" charset="0"/>
              </a:rPr>
              <a:t>, and to identify the key factors influencing a facility’s performance and categorization.</a:t>
            </a:r>
          </a:p>
          <a:p>
            <a:r>
              <a:rPr lang="en-US" sz="1800" dirty="0">
                <a:latin typeface="Arial" panose="020B0604020202020204" pitchFamily="34" charset="0"/>
                <a:cs typeface="Arial" panose="020B0604020202020204" pitchFamily="34" charset="0"/>
              </a:rPr>
              <a:t>Using techniques like </a:t>
            </a:r>
            <a:r>
              <a:rPr lang="en-US" sz="1800" b="1" dirty="0">
                <a:latin typeface="Arial" panose="020B0604020202020204" pitchFamily="34" charset="0"/>
                <a:cs typeface="Arial" panose="020B0604020202020204" pitchFamily="34" charset="0"/>
              </a:rPr>
              <a:t>data cleaning, preprocessing, and exploratory data analysis (EDA)</a:t>
            </a:r>
            <a:r>
              <a:rPr lang="en-US" sz="1800" dirty="0">
                <a:latin typeface="Arial" panose="020B0604020202020204" pitchFamily="34" charset="0"/>
                <a:cs typeface="Arial" panose="020B0604020202020204" pitchFamily="34" charset="0"/>
              </a:rPr>
              <a:t>, the project extracts meaningful insights from complex administrative data.</a:t>
            </a:r>
            <a:br>
              <a:rPr lang="en-US" sz="1800" dirty="0">
                <a:latin typeface="Arial" panose="020B0604020202020204" pitchFamily="34" charset="0"/>
                <a:cs typeface="Arial" panose="020B0604020202020204" pitchFamily="34" charset="0"/>
              </a:rPr>
            </a:br>
            <a:r>
              <a:rPr lang="en-US" sz="1800" dirty="0">
                <a:latin typeface="Arial" panose="020B0604020202020204" pitchFamily="34" charset="0"/>
                <a:cs typeface="Arial" panose="020B0604020202020204" pitchFamily="34" charset="0"/>
              </a:rPr>
              <a:t>Advanced </a:t>
            </a:r>
            <a:r>
              <a:rPr lang="en-US" sz="1800" b="1" dirty="0">
                <a:latin typeface="Arial" panose="020B0604020202020204" pitchFamily="34" charset="0"/>
                <a:cs typeface="Arial" panose="020B0604020202020204" pitchFamily="34" charset="0"/>
              </a:rPr>
              <a:t>machine learning models</a:t>
            </a:r>
            <a:r>
              <a:rPr lang="en-US" sz="1800" dirty="0">
                <a:latin typeface="Arial" panose="020B0604020202020204" pitchFamily="34" charset="0"/>
                <a:cs typeface="Arial" panose="020B0604020202020204" pitchFamily="34" charset="0"/>
              </a:rPr>
              <a:t> such as </a:t>
            </a:r>
            <a:r>
              <a:rPr lang="en-US" sz="1800" b="1" dirty="0">
                <a:latin typeface="Arial" panose="020B0604020202020204" pitchFamily="34" charset="0"/>
                <a:cs typeface="Arial" panose="020B0604020202020204" pitchFamily="34" charset="0"/>
              </a:rPr>
              <a:t>Random Forest, </a:t>
            </a:r>
            <a:r>
              <a:rPr lang="en-US" sz="1800" b="1" dirty="0" err="1">
                <a:latin typeface="Arial" panose="020B0604020202020204" pitchFamily="34" charset="0"/>
                <a:cs typeface="Arial" panose="020B0604020202020204" pitchFamily="34" charset="0"/>
              </a:rPr>
              <a:t>XGBoost</a:t>
            </a:r>
            <a:r>
              <a:rPr lang="en-US" sz="1800" b="1" dirty="0">
                <a:latin typeface="Arial" panose="020B0604020202020204" pitchFamily="34" charset="0"/>
                <a:cs typeface="Arial" panose="020B0604020202020204" pitchFamily="34" charset="0"/>
              </a:rPr>
              <a:t>, </a:t>
            </a:r>
            <a:r>
              <a:rPr lang="en-US" sz="1800" b="1" dirty="0" err="1">
                <a:latin typeface="Arial" panose="020B0604020202020204" pitchFamily="34" charset="0"/>
                <a:cs typeface="Arial" panose="020B0604020202020204" pitchFamily="34" charset="0"/>
              </a:rPr>
              <a:t>LightGBM</a:t>
            </a:r>
            <a:r>
              <a:rPr lang="en-US" sz="1800" b="1" dirty="0">
                <a:latin typeface="Arial" panose="020B0604020202020204" pitchFamily="34" charset="0"/>
                <a:cs typeface="Arial" panose="020B0604020202020204" pitchFamily="34" charset="0"/>
              </a:rPr>
              <a:t>, and </a:t>
            </a:r>
            <a:r>
              <a:rPr lang="en-US" sz="1800" b="1" dirty="0" err="1">
                <a:latin typeface="Arial" panose="020B0604020202020204" pitchFamily="34" charset="0"/>
                <a:cs typeface="Arial" panose="020B0604020202020204" pitchFamily="34" charset="0"/>
              </a:rPr>
              <a:t>CatBoost</a:t>
            </a:r>
            <a:r>
              <a:rPr lang="en-US" sz="1800" dirty="0">
                <a:latin typeface="Arial" panose="020B0604020202020204" pitchFamily="34" charset="0"/>
                <a:cs typeface="Arial" panose="020B0604020202020204" pitchFamily="34" charset="0"/>
              </a:rPr>
              <a:t> are applied for both </a:t>
            </a:r>
            <a:r>
              <a:rPr lang="en-US" sz="1800" b="1" dirty="0">
                <a:latin typeface="Arial" panose="020B0604020202020204" pitchFamily="34" charset="0"/>
                <a:cs typeface="Arial" panose="020B0604020202020204" pitchFamily="34" charset="0"/>
              </a:rPr>
              <a:t>regression</a:t>
            </a:r>
            <a:r>
              <a:rPr lang="en-US" sz="1800" dirty="0">
                <a:latin typeface="Arial" panose="020B0604020202020204" pitchFamily="34" charset="0"/>
                <a:cs typeface="Arial" panose="020B0604020202020204" pitchFamily="34" charset="0"/>
              </a:rPr>
              <a:t> (predicting facility capacity) and </a:t>
            </a:r>
            <a:r>
              <a:rPr lang="en-US" sz="1800" b="1" dirty="0">
                <a:latin typeface="Arial" panose="020B0604020202020204" pitchFamily="34" charset="0"/>
                <a:cs typeface="Arial" panose="020B0604020202020204" pitchFamily="34" charset="0"/>
              </a:rPr>
              <a:t>classification</a:t>
            </a:r>
            <a:r>
              <a:rPr lang="en-US" sz="1800" dirty="0">
                <a:latin typeface="Arial" panose="020B0604020202020204" pitchFamily="34" charset="0"/>
                <a:cs typeface="Arial" panose="020B0604020202020204" pitchFamily="34" charset="0"/>
              </a:rPr>
              <a:t> (categorizing facilities).</a:t>
            </a:r>
            <a:br>
              <a:rPr lang="en-US" sz="1800" dirty="0">
                <a:latin typeface="Arial" panose="020B0604020202020204" pitchFamily="34" charset="0"/>
                <a:cs typeface="Arial" panose="020B0604020202020204" pitchFamily="34" charset="0"/>
              </a:rPr>
            </a:br>
            <a:r>
              <a:rPr lang="en-US" sz="1800" dirty="0">
                <a:latin typeface="Arial" panose="020B0604020202020204" pitchFamily="34" charset="0"/>
                <a:cs typeface="Arial" panose="020B0604020202020204" pitchFamily="34" charset="0"/>
              </a:rPr>
              <a:t>Additionally, </a:t>
            </a:r>
            <a:r>
              <a:rPr lang="en-US" sz="1800" b="1" dirty="0">
                <a:latin typeface="Arial" panose="020B0604020202020204" pitchFamily="34" charset="0"/>
                <a:cs typeface="Arial" panose="020B0604020202020204" pitchFamily="34" charset="0"/>
              </a:rPr>
              <a:t>K-Means clustering</a:t>
            </a:r>
            <a:r>
              <a:rPr lang="en-US" sz="1800" dirty="0">
                <a:latin typeface="Arial" panose="020B0604020202020204" pitchFamily="34" charset="0"/>
                <a:cs typeface="Arial" panose="020B0604020202020204" pitchFamily="34" charset="0"/>
              </a:rPr>
              <a:t> is used to group similar facilities based on their characteristics, revealing structural patterns and regional trends.</a:t>
            </a:r>
          </a:p>
          <a:p>
            <a:r>
              <a:rPr lang="en-US" sz="1800" dirty="0">
                <a:latin typeface="Arial" panose="020B0604020202020204" pitchFamily="34" charset="0"/>
                <a:cs typeface="Arial" panose="020B0604020202020204" pitchFamily="34" charset="0"/>
              </a:rPr>
              <a:t>The overall objective is to leverage </a:t>
            </a:r>
            <a:r>
              <a:rPr lang="en-US" sz="1800" b="1" dirty="0">
                <a:latin typeface="Arial" panose="020B0604020202020204" pitchFamily="34" charset="0"/>
                <a:cs typeface="Arial" panose="020B0604020202020204" pitchFamily="34" charset="0"/>
              </a:rPr>
              <a:t>AI-driven analytics</a:t>
            </a:r>
            <a:r>
              <a:rPr lang="en-US" sz="1800" dirty="0">
                <a:latin typeface="Arial" panose="020B0604020202020204" pitchFamily="34" charset="0"/>
                <a:cs typeface="Arial" panose="020B0604020202020204" pitchFamily="34" charset="0"/>
              </a:rPr>
              <a:t> to support </a:t>
            </a:r>
            <a:r>
              <a:rPr lang="en-US" sz="1800" b="1" dirty="0">
                <a:latin typeface="Arial" panose="020B0604020202020204" pitchFamily="34" charset="0"/>
                <a:cs typeface="Arial" panose="020B0604020202020204" pitchFamily="34" charset="0"/>
              </a:rPr>
              <a:t>healthcare planning, policy-making, and capacity management</a:t>
            </a:r>
            <a:r>
              <a:rPr lang="en-US" sz="1800" dirty="0">
                <a:latin typeface="Arial" panose="020B0604020202020204" pitchFamily="34" charset="0"/>
                <a:cs typeface="Arial" panose="020B0604020202020204" pitchFamily="34" charset="0"/>
              </a:rPr>
              <a:t> in California’s healthcare system.</a:t>
            </a:r>
          </a:p>
          <a:p>
            <a:pPr marL="0" indent="0">
              <a:buNone/>
            </a:pPr>
            <a:endParaRPr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BF2AB5E-D166-AB52-2CC0-82F3E0CDB65C}"/>
              </a:ext>
            </a:extLst>
          </p:cNvPr>
          <p:cNvSpPr txBox="1"/>
          <p:nvPr/>
        </p:nvSpPr>
        <p:spPr>
          <a:xfrm>
            <a:off x="443060" y="1828800"/>
            <a:ext cx="8436989" cy="2031325"/>
          </a:xfrm>
          <a:prstGeom prst="rect">
            <a:avLst/>
          </a:prstGeom>
          <a:noFill/>
        </p:spPr>
        <p:txBody>
          <a:bodyPr wrap="square" rtlCol="0">
            <a:spAutoFit/>
          </a:bodyPr>
          <a:lstStyle/>
          <a:p>
            <a:r>
              <a:rPr lang="en-IN" b="1" i="1" dirty="0">
                <a:latin typeface="Times New Roman" panose="02020603050405020304" pitchFamily="18" charset="0"/>
                <a:cs typeface="Times New Roman" panose="02020603050405020304" pitchFamily="18" charset="0"/>
              </a:rPr>
              <a:t>DATASET SOURCE</a:t>
            </a:r>
            <a:r>
              <a:rPr lang="en-IN" dirty="0">
                <a:latin typeface="Arial" panose="020B0604020202020204" pitchFamily="34" charset="0"/>
                <a:cs typeface="Arial" panose="020B0604020202020204" pitchFamily="34" charset="0"/>
              </a:rPr>
              <a:t>: </a:t>
            </a:r>
            <a:r>
              <a:rPr lang="en-IN" dirty="0">
                <a:latin typeface="Arial" panose="020B0604020202020204" pitchFamily="34" charset="0"/>
                <a:cs typeface="Arial" panose="020B0604020202020204" pitchFamily="34" charset="0"/>
                <a:hlinkClick r:id="rId2"/>
              </a:rPr>
              <a:t>Health Facility Listing- California</a:t>
            </a:r>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r>
              <a:rPr lang="en-IN" b="1" i="1" dirty="0">
                <a:latin typeface="Times New Roman" panose="02020603050405020304" pitchFamily="18" charset="0"/>
                <a:cs typeface="Times New Roman" panose="02020603050405020304" pitchFamily="18" charset="0"/>
              </a:rPr>
              <a:t>STREAMLIT APP</a:t>
            </a:r>
            <a:r>
              <a:rPr lang="en-IN" dirty="0">
                <a:latin typeface="Arial" panose="020B0604020202020204" pitchFamily="34" charset="0"/>
                <a:cs typeface="Arial" panose="020B0604020202020204" pitchFamily="34" charset="0"/>
              </a:rPr>
              <a:t>: </a:t>
            </a:r>
            <a:r>
              <a:rPr lang="en-IN" dirty="0">
                <a:latin typeface="Arial" panose="020B0604020202020204" pitchFamily="34" charset="0"/>
                <a:cs typeface="Arial" panose="020B0604020202020204" pitchFamily="34" charset="0"/>
                <a:hlinkClick r:id="rId3"/>
              </a:rPr>
              <a:t>Interactive Dashboard</a:t>
            </a:r>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r>
              <a:rPr lang="en-IN" b="1" i="1" dirty="0">
                <a:latin typeface="Times New Roman" panose="02020603050405020304" pitchFamily="18" charset="0"/>
                <a:cs typeface="Times New Roman" panose="02020603050405020304" pitchFamily="18" charset="0"/>
              </a:rPr>
              <a:t>GOOGLE COLAB</a:t>
            </a:r>
            <a:r>
              <a:rPr lang="en-IN" dirty="0">
                <a:latin typeface="Arial" panose="020B0604020202020204" pitchFamily="34" charset="0"/>
                <a:cs typeface="Arial" panose="020B0604020202020204" pitchFamily="34" charset="0"/>
              </a:rPr>
              <a:t>: </a:t>
            </a:r>
            <a:r>
              <a:rPr lang="en-IN" dirty="0">
                <a:latin typeface="Arial" panose="020B0604020202020204" pitchFamily="34" charset="0"/>
                <a:cs typeface="Arial" panose="020B0604020202020204" pitchFamily="34" charset="0"/>
                <a:hlinkClick r:id="rId4"/>
              </a:rPr>
              <a:t>Implementation</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292603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Dataset Information</a:t>
            </a:r>
          </a:p>
        </p:txBody>
      </p:sp>
      <p:sp>
        <p:nvSpPr>
          <p:cNvPr id="4" name="Rectangle 1">
            <a:extLst>
              <a:ext uri="{FF2B5EF4-FFF2-40B4-BE49-F238E27FC236}">
                <a16:creationId xmlns:a16="http://schemas.microsoft.com/office/drawing/2014/main" id="{A56AF813-0278-10F7-2485-C3BAD30F93D4}"/>
              </a:ext>
            </a:extLst>
          </p:cNvPr>
          <p:cNvSpPr>
            <a:spLocks noGrp="1" noChangeArrowheads="1"/>
          </p:cNvSpPr>
          <p:nvPr>
            <p:ph idx="1"/>
          </p:nvPr>
        </p:nvSpPr>
        <p:spPr bwMode="auto">
          <a:xfrm>
            <a:off x="551175" y="1695432"/>
            <a:ext cx="8135625" cy="36379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indent="0" defTabSz="914400" eaLnBrk="0" fontAlgn="base" hangingPunct="0">
              <a:spcBef>
                <a:spcPct val="0"/>
              </a:spcBef>
              <a:spcAft>
                <a:spcPct val="0"/>
              </a:spcAft>
              <a:buNone/>
            </a:pP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Dataset Name:</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Health Facility Listing – California</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Source:</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California Department of Health Care Access and Information (HCAI)</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sz="1800" dirty="0">
              <a:latin typeface="Arial" panose="020B0604020202020204" pitchFamily="34" charset="0"/>
              <a:cs typeface="Arial" panose="020B0604020202020204" pitchFamily="34" charset="0"/>
            </a:endParaRPr>
          </a:p>
          <a:p>
            <a:pPr marL="0" lvl="0" indent="0" defTabSz="914400" eaLnBrk="0" fontAlgn="base" hangingPunct="0">
              <a:spcBef>
                <a:spcPct val="0"/>
              </a:spcBef>
              <a:spcAft>
                <a:spcPct val="0"/>
              </a:spcAft>
              <a:buNone/>
            </a:pPr>
            <a:r>
              <a:rPr lang="en-IN" sz="1800" b="1" dirty="0">
                <a:latin typeface="Arial" panose="020B0604020202020204" pitchFamily="34" charset="0"/>
                <a:cs typeface="Arial" panose="020B0604020202020204" pitchFamily="34" charset="0"/>
              </a:rPr>
              <a:t>Total Records:</a:t>
            </a:r>
            <a:r>
              <a:rPr lang="en-IN" sz="1800" dirty="0">
                <a:latin typeface="Arial" panose="020B0604020202020204" pitchFamily="34" charset="0"/>
                <a:cs typeface="Arial" panose="020B0604020202020204" pitchFamily="34" charset="0"/>
              </a:rPr>
              <a:t> ~15,800 facilities</a:t>
            </a:r>
          </a:p>
          <a:p>
            <a:pPr marL="0" lvl="0" indent="0" defTabSz="914400" eaLnBrk="0" fontAlgn="base" hangingPunct="0">
              <a:spcBef>
                <a:spcPct val="0"/>
              </a:spcBef>
              <a:spcAft>
                <a:spcPct val="0"/>
              </a:spcAft>
              <a:buNone/>
            </a:pPr>
            <a:r>
              <a:rPr lang="en-IN" sz="1800" b="1" dirty="0">
                <a:latin typeface="Arial" panose="020B0604020202020204" pitchFamily="34" charset="0"/>
                <a:cs typeface="Arial" panose="020B0604020202020204" pitchFamily="34" charset="0"/>
              </a:rPr>
              <a:t>Total Columns:</a:t>
            </a:r>
            <a:r>
              <a:rPr lang="en-IN" sz="1800" dirty="0">
                <a:latin typeface="Arial" panose="020B0604020202020204" pitchFamily="34" charset="0"/>
                <a:cs typeface="Arial" panose="020B0604020202020204" pitchFamily="34" charset="0"/>
              </a:rPr>
              <a:t> 60+ attributes</a:t>
            </a:r>
          </a:p>
          <a:p>
            <a:pPr marL="0" lvl="0" indent="0" defTabSz="914400" eaLnBrk="0" fontAlgn="base" hangingPunct="0">
              <a:spcBef>
                <a:spcPct val="0"/>
              </a:spcBef>
              <a:spcAft>
                <a:spcPct val="0"/>
              </a:spcAft>
              <a:buNone/>
            </a:pPr>
            <a:endParaRPr kumimoji="0" lang="en-IN"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indent="0">
              <a:buNone/>
            </a:pPr>
            <a:r>
              <a:rPr lang="en-US" sz="1800" b="1" dirty="0">
                <a:latin typeface="Arial" panose="020B0604020202020204" pitchFamily="34" charset="0"/>
                <a:cs typeface="Arial" panose="020B0604020202020204" pitchFamily="34" charset="0"/>
              </a:rPr>
              <a:t>Data Cleaning Summary</a:t>
            </a:r>
          </a:p>
          <a:p>
            <a:r>
              <a:rPr lang="en-US" sz="1800" dirty="0">
                <a:latin typeface="Arial" panose="020B0604020202020204" pitchFamily="34" charset="0"/>
                <a:cs typeface="Arial" panose="020B0604020202020204" pitchFamily="34" charset="0"/>
              </a:rPr>
              <a:t>Missing and inconsistent values were handled.</a:t>
            </a:r>
          </a:p>
          <a:p>
            <a:r>
              <a:rPr lang="en-US" sz="1800" dirty="0">
                <a:latin typeface="Arial" panose="020B0604020202020204" pitchFamily="34" charset="0"/>
                <a:cs typeface="Arial" panose="020B0604020202020204" pitchFamily="34" charset="0"/>
              </a:rPr>
              <a:t>Categorical variables encoded using </a:t>
            </a:r>
            <a:r>
              <a:rPr lang="en-US" sz="1800" b="1" dirty="0" err="1">
                <a:latin typeface="Arial" panose="020B0604020202020204" pitchFamily="34" charset="0"/>
                <a:cs typeface="Arial" panose="020B0604020202020204" pitchFamily="34" charset="0"/>
              </a:rPr>
              <a:t>LabelEncoder</a:t>
            </a:r>
            <a:r>
              <a:rPr lang="en-US" sz="1800" dirty="0">
                <a:latin typeface="Arial" panose="020B0604020202020204" pitchFamily="34" charset="0"/>
                <a:cs typeface="Arial" panose="020B0604020202020204" pitchFamily="34" charset="0"/>
              </a:rPr>
              <a:t>.</a:t>
            </a:r>
          </a:p>
          <a:p>
            <a:r>
              <a:rPr lang="en-US" sz="1800" dirty="0">
                <a:latin typeface="Arial" panose="020B0604020202020204" pitchFamily="34" charset="0"/>
                <a:cs typeface="Arial" panose="020B0604020202020204" pitchFamily="34" charset="0"/>
              </a:rPr>
              <a:t>Numeric data standardized using </a:t>
            </a:r>
            <a:r>
              <a:rPr lang="en-US" sz="1800" b="1" dirty="0" err="1">
                <a:latin typeface="Arial" panose="020B0604020202020204" pitchFamily="34" charset="0"/>
                <a:cs typeface="Arial" panose="020B0604020202020204" pitchFamily="34" charset="0"/>
              </a:rPr>
              <a:t>StandardScaler</a:t>
            </a:r>
            <a:r>
              <a:rPr lang="en-US" sz="1800" dirty="0">
                <a:latin typeface="Arial" panose="020B0604020202020204" pitchFamily="34" charset="0"/>
                <a:cs typeface="Arial" panose="020B0604020202020204" pitchFamily="34" charset="0"/>
              </a:rPr>
              <a:t>.</a:t>
            </a:r>
          </a:p>
          <a:p>
            <a:pPr marL="0" lvl="0" indent="0" defTabSz="914400" eaLnBrk="0" fontAlgn="base" hangingPunct="0">
              <a:spcBef>
                <a:spcPct val="0"/>
              </a:spcBef>
              <a:spcAft>
                <a:spcPct val="0"/>
              </a:spcAft>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Data Preprocessing</a:t>
            </a:r>
          </a:p>
        </p:txBody>
      </p:sp>
      <p:sp>
        <p:nvSpPr>
          <p:cNvPr id="3" name="Content Placeholder 2"/>
          <p:cNvSpPr>
            <a:spLocks noGrp="1"/>
          </p:cNvSpPr>
          <p:nvPr>
            <p:ph idx="1"/>
          </p:nvPr>
        </p:nvSpPr>
        <p:spPr>
          <a:xfrm>
            <a:off x="457200" y="1864151"/>
            <a:ext cx="8229600" cy="4525963"/>
          </a:xfrm>
        </p:spPr>
        <p:txBody>
          <a:bodyPr>
            <a:normAutofit/>
          </a:bodyPr>
          <a:lstStyle/>
          <a:p>
            <a:r>
              <a:rPr lang="en-IN" sz="1800" dirty="0">
                <a:latin typeface="Arial" panose="020B0604020202020204" pitchFamily="34" charset="0"/>
                <a:cs typeface="Arial" panose="020B0604020202020204" pitchFamily="34" charset="0"/>
              </a:rPr>
              <a:t>Removed </a:t>
            </a:r>
            <a:r>
              <a:rPr lang="en-IN" sz="1800" b="1" dirty="0">
                <a:latin typeface="Arial" panose="020B0604020202020204" pitchFamily="34" charset="0"/>
                <a:cs typeface="Arial" panose="020B0604020202020204" pitchFamily="34" charset="0"/>
              </a:rPr>
              <a:t>duplicates</a:t>
            </a:r>
            <a:r>
              <a:rPr lang="en-IN" sz="1800" dirty="0">
                <a:latin typeface="Arial" panose="020B0604020202020204" pitchFamily="34" charset="0"/>
                <a:cs typeface="Arial" panose="020B0604020202020204" pitchFamily="34" charset="0"/>
              </a:rPr>
              <a:t> and handled </a:t>
            </a:r>
            <a:r>
              <a:rPr lang="en-IN" sz="1800" b="1" dirty="0">
                <a:latin typeface="Arial" panose="020B0604020202020204" pitchFamily="34" charset="0"/>
                <a:cs typeface="Arial" panose="020B0604020202020204" pitchFamily="34" charset="0"/>
              </a:rPr>
              <a:t>missing values</a:t>
            </a:r>
            <a:r>
              <a:rPr lang="en-IN" sz="1800" dirty="0">
                <a:latin typeface="Arial" panose="020B0604020202020204" pitchFamily="34" charset="0"/>
                <a:cs typeface="Arial" panose="020B0604020202020204" pitchFamily="34" charset="0"/>
              </a:rPr>
              <a:t> using median/mode imputation.</a:t>
            </a:r>
          </a:p>
          <a:p>
            <a:r>
              <a:rPr lang="en-IN" sz="1800" dirty="0">
                <a:latin typeface="Arial" panose="020B0604020202020204" pitchFamily="34" charset="0"/>
                <a:cs typeface="Arial" panose="020B0604020202020204" pitchFamily="34" charset="0"/>
              </a:rPr>
              <a:t>Standardized </a:t>
            </a:r>
            <a:r>
              <a:rPr lang="en-IN" sz="1800" b="1" dirty="0">
                <a:latin typeface="Arial" panose="020B0604020202020204" pitchFamily="34" charset="0"/>
                <a:cs typeface="Arial" panose="020B0604020202020204" pitchFamily="34" charset="0"/>
              </a:rPr>
              <a:t>date formats</a:t>
            </a:r>
            <a:r>
              <a:rPr lang="en-IN" sz="1800" dirty="0">
                <a:latin typeface="Arial" panose="020B0604020202020204" pitchFamily="34" charset="0"/>
                <a:cs typeface="Arial" panose="020B0604020202020204" pitchFamily="34" charset="0"/>
              </a:rPr>
              <a:t> (e.g., approval and license dates).</a:t>
            </a:r>
          </a:p>
          <a:p>
            <a:r>
              <a:rPr lang="en-IN" sz="1800" dirty="0">
                <a:latin typeface="Arial" panose="020B0604020202020204" pitchFamily="34" charset="0"/>
                <a:cs typeface="Arial" panose="020B0604020202020204" pitchFamily="34" charset="0"/>
              </a:rPr>
              <a:t>Converted </a:t>
            </a:r>
            <a:r>
              <a:rPr lang="en-IN" sz="1800" b="1" dirty="0">
                <a:latin typeface="Arial" panose="020B0604020202020204" pitchFamily="34" charset="0"/>
                <a:cs typeface="Arial" panose="020B0604020202020204" pitchFamily="34" charset="0"/>
              </a:rPr>
              <a:t>categorical attributes</a:t>
            </a:r>
            <a:r>
              <a:rPr lang="en-IN" sz="1800" dirty="0">
                <a:latin typeface="Arial" panose="020B0604020202020204" pitchFamily="34" charset="0"/>
                <a:cs typeface="Arial" panose="020B0604020202020204" pitchFamily="34" charset="0"/>
              </a:rPr>
              <a:t> (e.g., facility type, county name) using </a:t>
            </a:r>
            <a:r>
              <a:rPr lang="en-IN" sz="1800" b="1" dirty="0">
                <a:latin typeface="Arial" panose="020B0604020202020204" pitchFamily="34" charset="0"/>
                <a:cs typeface="Arial" panose="020B0604020202020204" pitchFamily="34" charset="0"/>
              </a:rPr>
              <a:t>Label Encoding</a:t>
            </a:r>
            <a:r>
              <a:rPr lang="en-IN" sz="1800" dirty="0">
                <a:latin typeface="Arial" panose="020B0604020202020204" pitchFamily="34" charset="0"/>
                <a:cs typeface="Arial" panose="020B0604020202020204" pitchFamily="34" charset="0"/>
              </a:rPr>
              <a:t>.</a:t>
            </a:r>
          </a:p>
          <a:p>
            <a:r>
              <a:rPr lang="en-IN" sz="1800" dirty="0">
                <a:latin typeface="Arial" panose="020B0604020202020204" pitchFamily="34" charset="0"/>
                <a:cs typeface="Arial" panose="020B0604020202020204" pitchFamily="34" charset="0"/>
              </a:rPr>
              <a:t>Scaled numerical columns like </a:t>
            </a:r>
            <a:r>
              <a:rPr lang="en-IN" sz="1800" b="1" dirty="0">
                <a:latin typeface="Arial" panose="020B0604020202020204" pitchFamily="34" charset="0"/>
                <a:cs typeface="Arial" panose="020B0604020202020204" pitchFamily="34" charset="0"/>
              </a:rPr>
              <a:t>capacity, latitude, longitude</a:t>
            </a:r>
            <a:r>
              <a:rPr lang="en-IN" sz="1800" dirty="0">
                <a:latin typeface="Arial" panose="020B0604020202020204" pitchFamily="34" charset="0"/>
                <a:cs typeface="Arial" panose="020B0604020202020204" pitchFamily="34" charset="0"/>
              </a:rPr>
              <a:t> using </a:t>
            </a:r>
            <a:r>
              <a:rPr lang="en-IN" sz="1800" b="1" dirty="0" err="1">
                <a:latin typeface="Arial" panose="020B0604020202020204" pitchFamily="34" charset="0"/>
                <a:cs typeface="Arial" panose="020B0604020202020204" pitchFamily="34" charset="0"/>
              </a:rPr>
              <a:t>StandardScaler</a:t>
            </a:r>
            <a:r>
              <a:rPr lang="en-IN" sz="1800" dirty="0">
                <a:latin typeface="Arial" panose="020B0604020202020204" pitchFamily="34" charset="0"/>
                <a:cs typeface="Arial" panose="020B0604020202020204" pitchFamily="34" charset="0"/>
              </a:rPr>
              <a:t>.</a:t>
            </a:r>
          </a:p>
          <a:p>
            <a:r>
              <a:rPr lang="en-IN" sz="1800" dirty="0">
                <a:latin typeface="Arial" panose="020B0604020202020204" pitchFamily="34" charset="0"/>
                <a:cs typeface="Arial" panose="020B0604020202020204" pitchFamily="34" charset="0"/>
              </a:rPr>
              <a:t>Integrated facility, licensing, and geographic data into a single dataset.</a:t>
            </a:r>
          </a:p>
          <a:p>
            <a:r>
              <a:rPr lang="en-IN" sz="1800" dirty="0">
                <a:latin typeface="Arial" panose="020B0604020202020204" pitchFamily="34" charset="0"/>
                <a:cs typeface="Arial" panose="020B0604020202020204" pitchFamily="34" charset="0"/>
              </a:rPr>
              <a:t>Split data into </a:t>
            </a:r>
            <a:r>
              <a:rPr lang="en-IN" sz="1800" b="1" dirty="0">
                <a:latin typeface="Arial" panose="020B0604020202020204" pitchFamily="34" charset="0"/>
                <a:cs typeface="Arial" panose="020B0604020202020204" pitchFamily="34" charset="0"/>
              </a:rPr>
              <a:t>80% training</a:t>
            </a:r>
            <a:r>
              <a:rPr lang="en-IN" sz="1800" dirty="0">
                <a:latin typeface="Arial" panose="020B0604020202020204" pitchFamily="34" charset="0"/>
                <a:cs typeface="Arial" panose="020B0604020202020204" pitchFamily="34" charset="0"/>
              </a:rPr>
              <a:t> and </a:t>
            </a:r>
            <a:r>
              <a:rPr lang="en-IN" sz="1800" b="1" dirty="0">
                <a:latin typeface="Arial" panose="020B0604020202020204" pitchFamily="34" charset="0"/>
                <a:cs typeface="Arial" panose="020B0604020202020204" pitchFamily="34" charset="0"/>
              </a:rPr>
              <a:t>20% testing</a:t>
            </a:r>
            <a:r>
              <a:rPr lang="en-IN" sz="1800" dirty="0">
                <a:latin typeface="Arial" panose="020B0604020202020204" pitchFamily="34" charset="0"/>
                <a:cs typeface="Arial" panose="020B0604020202020204" pitchFamily="34" charset="0"/>
              </a:rPr>
              <a:t> sets for model evaluation.</a:t>
            </a:r>
          </a:p>
          <a:p>
            <a:r>
              <a:rPr lang="en-IN" sz="1800" b="1" dirty="0">
                <a:latin typeface="Arial" panose="020B0604020202020204" pitchFamily="34" charset="0"/>
                <a:cs typeface="Arial" panose="020B0604020202020204" pitchFamily="34" charset="0"/>
              </a:rPr>
              <a:t>Result:</a:t>
            </a:r>
            <a:r>
              <a:rPr lang="en-IN" sz="1800" dirty="0">
                <a:latin typeface="Arial" panose="020B0604020202020204" pitchFamily="34" charset="0"/>
                <a:cs typeface="Arial" panose="020B0604020202020204" pitchFamily="34" charset="0"/>
              </a:rPr>
              <a:t> A clean, consistent, and ML-ready dataset for analysis and </a:t>
            </a:r>
            <a:r>
              <a:rPr lang="en-IN" sz="1800" dirty="0" err="1">
                <a:latin typeface="Arial" panose="020B0604020202020204" pitchFamily="34" charset="0"/>
                <a:cs typeface="Arial" panose="020B0604020202020204" pitchFamily="34" charset="0"/>
              </a:rPr>
              <a:t>modeling</a:t>
            </a:r>
            <a:r>
              <a:rPr lang="en-IN" sz="1800" dirty="0">
                <a:latin typeface="Arial" panose="020B0604020202020204" pitchFamily="34" charset="0"/>
                <a:cs typeface="Arial" panose="020B0604020202020204" pitchFamily="34" charset="0"/>
              </a:rPr>
              <a:t>.</a:t>
            </a:r>
          </a:p>
          <a:p>
            <a:pPr marL="0" indent="0">
              <a:buNone/>
            </a:pPr>
            <a:endParaRPr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Rounded Corners 15">
            <a:extLst>
              <a:ext uri="{FF2B5EF4-FFF2-40B4-BE49-F238E27FC236}">
                <a16:creationId xmlns:a16="http://schemas.microsoft.com/office/drawing/2014/main" id="{DB82674F-E232-59F0-2211-039FB361A7A9}"/>
              </a:ext>
            </a:extLst>
          </p:cNvPr>
          <p:cNvSpPr/>
          <p:nvPr/>
        </p:nvSpPr>
        <p:spPr>
          <a:xfrm>
            <a:off x="5667865" y="3862870"/>
            <a:ext cx="3186211" cy="173665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5" name="Rectangle: Rounded Corners 14">
            <a:extLst>
              <a:ext uri="{FF2B5EF4-FFF2-40B4-BE49-F238E27FC236}">
                <a16:creationId xmlns:a16="http://schemas.microsoft.com/office/drawing/2014/main" id="{2940CDE0-E368-D870-BBC8-D877DD907DE8}"/>
              </a:ext>
            </a:extLst>
          </p:cNvPr>
          <p:cNvSpPr/>
          <p:nvPr/>
        </p:nvSpPr>
        <p:spPr>
          <a:xfrm>
            <a:off x="5575954" y="303506"/>
            <a:ext cx="3190974" cy="1559391"/>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8" name="Picture 7">
            <a:extLst>
              <a:ext uri="{FF2B5EF4-FFF2-40B4-BE49-F238E27FC236}">
                <a16:creationId xmlns:a16="http://schemas.microsoft.com/office/drawing/2014/main" id="{F82E91E4-3DBF-0082-E98E-F47AAC3D4D0E}"/>
              </a:ext>
            </a:extLst>
          </p:cNvPr>
          <p:cNvPicPr>
            <a:picLocks noChangeAspect="1"/>
          </p:cNvPicPr>
          <p:nvPr/>
        </p:nvPicPr>
        <p:blipFill>
          <a:blip r:embed="rId2"/>
          <a:stretch>
            <a:fillRect/>
          </a:stretch>
        </p:blipFill>
        <p:spPr>
          <a:xfrm>
            <a:off x="0" y="0"/>
            <a:ext cx="5310754" cy="2894029"/>
          </a:xfrm>
          <a:prstGeom prst="rect">
            <a:avLst/>
          </a:prstGeom>
        </p:spPr>
      </p:pic>
      <p:pic>
        <p:nvPicPr>
          <p:cNvPr id="9" name="Picture 8">
            <a:extLst>
              <a:ext uri="{FF2B5EF4-FFF2-40B4-BE49-F238E27FC236}">
                <a16:creationId xmlns:a16="http://schemas.microsoft.com/office/drawing/2014/main" id="{FFD831D4-4B99-68C2-1FAA-53ED08EB4CD2}"/>
              </a:ext>
            </a:extLst>
          </p:cNvPr>
          <p:cNvPicPr>
            <a:picLocks noChangeAspect="1"/>
          </p:cNvPicPr>
          <p:nvPr/>
        </p:nvPicPr>
        <p:blipFill>
          <a:blip r:embed="rId3"/>
          <a:stretch>
            <a:fillRect/>
          </a:stretch>
        </p:blipFill>
        <p:spPr>
          <a:xfrm>
            <a:off x="0" y="3242821"/>
            <a:ext cx="5580717" cy="3615179"/>
          </a:xfrm>
          <a:prstGeom prst="rect">
            <a:avLst/>
          </a:prstGeom>
        </p:spPr>
      </p:pic>
      <p:cxnSp>
        <p:nvCxnSpPr>
          <p:cNvPr id="11" name="Straight Arrow Connector 10">
            <a:extLst>
              <a:ext uri="{FF2B5EF4-FFF2-40B4-BE49-F238E27FC236}">
                <a16:creationId xmlns:a16="http://schemas.microsoft.com/office/drawing/2014/main" id="{164CB5B4-15B5-A494-60A9-526A8B8F9F68}"/>
              </a:ext>
            </a:extLst>
          </p:cNvPr>
          <p:cNvCxnSpPr/>
          <p:nvPr/>
        </p:nvCxnSpPr>
        <p:spPr>
          <a:xfrm flipV="1">
            <a:off x="5310754" y="1931004"/>
            <a:ext cx="1146607" cy="5576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DCF63B52-C6FB-46BF-68E8-9BFDDEBD93F5}"/>
              </a:ext>
            </a:extLst>
          </p:cNvPr>
          <p:cNvSpPr txBox="1"/>
          <p:nvPr/>
        </p:nvSpPr>
        <p:spPr>
          <a:xfrm>
            <a:off x="5580716" y="371613"/>
            <a:ext cx="3186211" cy="1384995"/>
          </a:xfrm>
          <a:prstGeom prst="rect">
            <a:avLst/>
          </a:prstGeom>
          <a:noFill/>
        </p:spPr>
        <p:txBody>
          <a:bodyPr wrap="square" rtlCol="0">
            <a:spAutoFit/>
          </a:bodyPr>
          <a:lstStyle/>
          <a:p>
            <a:pPr algn="just"/>
            <a:r>
              <a:rPr lang="en-US" sz="1400" dirty="0">
                <a:latin typeface="Arial" panose="020B0604020202020204" pitchFamily="34" charset="0"/>
                <a:cs typeface="Arial" panose="020B0604020202020204" pitchFamily="34" charset="0"/>
              </a:rPr>
              <a:t>This plot shows the distribution of facility capacities across California. Most health facilities have smaller capacities, indicating a right-skewed distribution with only a few large facilities having high-capacity values.</a:t>
            </a:r>
            <a:endParaRPr lang="en-IN" sz="1400"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76FD5D56-A652-0BF2-C7C5-7E3920464A7B}"/>
              </a:ext>
            </a:extLst>
          </p:cNvPr>
          <p:cNvSpPr txBox="1"/>
          <p:nvPr/>
        </p:nvSpPr>
        <p:spPr>
          <a:xfrm>
            <a:off x="5759777" y="3930977"/>
            <a:ext cx="3007151" cy="1600438"/>
          </a:xfrm>
          <a:prstGeom prst="rect">
            <a:avLst/>
          </a:prstGeom>
          <a:noFill/>
        </p:spPr>
        <p:txBody>
          <a:bodyPr wrap="square" rtlCol="0">
            <a:spAutoFit/>
          </a:bodyPr>
          <a:lstStyle/>
          <a:p>
            <a:pPr algn="just"/>
            <a:r>
              <a:rPr lang="en-US" sz="1400" dirty="0">
                <a:latin typeface="Arial" panose="020B0604020202020204" pitchFamily="34" charset="0"/>
                <a:cs typeface="Arial" panose="020B0604020202020204" pitchFamily="34" charset="0"/>
              </a:rPr>
              <a:t>The Kernel Density Estimate (KDE) plot highlights the same skewed trend, with a sharp peak near low-capacity values. This confirms that a majority of healthcare facilities operate with limited capacity, while only a few have very high capacity.</a:t>
            </a:r>
            <a:endParaRPr lang="en-IN" sz="1400" dirty="0">
              <a:latin typeface="Arial" panose="020B0604020202020204" pitchFamily="34" charset="0"/>
              <a:cs typeface="Arial" panose="020B0604020202020204" pitchFamily="34" charset="0"/>
            </a:endParaRPr>
          </a:p>
        </p:txBody>
      </p:sp>
      <p:cxnSp>
        <p:nvCxnSpPr>
          <p:cNvPr id="14" name="Straight Arrow Connector 13">
            <a:extLst>
              <a:ext uri="{FF2B5EF4-FFF2-40B4-BE49-F238E27FC236}">
                <a16:creationId xmlns:a16="http://schemas.microsoft.com/office/drawing/2014/main" id="{86210C54-C277-305E-71FB-A0808B7B99C8}"/>
              </a:ext>
            </a:extLst>
          </p:cNvPr>
          <p:cNvCxnSpPr/>
          <p:nvPr/>
        </p:nvCxnSpPr>
        <p:spPr>
          <a:xfrm flipV="1">
            <a:off x="5580717" y="5667629"/>
            <a:ext cx="1216009" cy="6881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dirty="0">
                <a:latin typeface="Times New Roman" panose="02020603050405020304" pitchFamily="18" charset="0"/>
                <a:cs typeface="Times New Roman" panose="02020603050405020304" pitchFamily="18" charset="0"/>
              </a:rPr>
              <a:t>Regression Models</a:t>
            </a:r>
          </a:p>
        </p:txBody>
      </p:sp>
      <p:sp>
        <p:nvSpPr>
          <p:cNvPr id="3" name="Content Placeholder 2">
            <a:extLst>
              <a:ext uri="{FF2B5EF4-FFF2-40B4-BE49-F238E27FC236}">
                <a16:creationId xmlns:a16="http://schemas.microsoft.com/office/drawing/2014/main" id="{E4DB20FE-6130-05F2-36BE-E1FBDF244714}"/>
              </a:ext>
            </a:extLst>
          </p:cNvPr>
          <p:cNvSpPr>
            <a:spLocks noGrp="1"/>
          </p:cNvSpPr>
          <p:nvPr>
            <p:ph idx="1"/>
          </p:nvPr>
        </p:nvSpPr>
        <p:spPr/>
        <p:txBody>
          <a:bodyPr>
            <a:normAutofit/>
          </a:bodyPr>
          <a:lstStyle/>
          <a:p>
            <a:pPr marL="0" indent="0">
              <a:buNone/>
            </a:pPr>
            <a:r>
              <a:rPr lang="en-US" sz="1800" b="1" dirty="0">
                <a:latin typeface="Arial" panose="020B0604020202020204" pitchFamily="34" charset="0"/>
                <a:cs typeface="Arial" panose="020B0604020202020204" pitchFamily="34" charset="0"/>
              </a:rPr>
              <a:t>Models and Rationale</a:t>
            </a:r>
          </a:p>
          <a:p>
            <a:pPr marL="0" indent="0">
              <a:buNone/>
            </a:pPr>
            <a:endParaRPr lang="en-US" sz="1800" b="1" dirty="0">
              <a:latin typeface="Arial" panose="020B0604020202020204" pitchFamily="34" charset="0"/>
              <a:cs typeface="Arial" panose="020B0604020202020204" pitchFamily="34" charset="0"/>
            </a:endParaRPr>
          </a:p>
          <a:p>
            <a:r>
              <a:rPr lang="en-US" sz="1800" b="1" dirty="0">
                <a:latin typeface="Arial" panose="020B0604020202020204" pitchFamily="34" charset="0"/>
                <a:cs typeface="Arial" panose="020B0604020202020204" pitchFamily="34" charset="0"/>
              </a:rPr>
              <a:t>Linear Regression:</a:t>
            </a:r>
            <a:br>
              <a:rPr lang="en-US" sz="1800" dirty="0">
                <a:latin typeface="Arial" panose="020B0604020202020204" pitchFamily="34" charset="0"/>
                <a:cs typeface="Arial" panose="020B0604020202020204" pitchFamily="34" charset="0"/>
              </a:rPr>
            </a:br>
            <a:r>
              <a:rPr lang="en-US" sz="1800" dirty="0">
                <a:latin typeface="Arial" panose="020B0604020202020204" pitchFamily="34" charset="0"/>
                <a:cs typeface="Arial" panose="020B0604020202020204" pitchFamily="34" charset="0"/>
              </a:rPr>
              <a:t>Used as a baseline model to test for simple linear relationships between input features and facility capacity.</a:t>
            </a:r>
            <a:br>
              <a:rPr lang="en-US" sz="1800" dirty="0">
                <a:latin typeface="Arial" panose="020B0604020202020204" pitchFamily="34" charset="0"/>
                <a:cs typeface="Arial" panose="020B0604020202020204" pitchFamily="34" charset="0"/>
              </a:rPr>
            </a:br>
            <a:r>
              <a:rPr lang="en-US" sz="1800" dirty="0">
                <a:latin typeface="Arial" panose="020B0604020202020204" pitchFamily="34" charset="0"/>
                <a:cs typeface="Arial" panose="020B0604020202020204" pitchFamily="34" charset="0"/>
              </a:rPr>
              <a:t>→ Result: Performed poorly (R² = -2.33), indicating nonlinearity in data.</a:t>
            </a:r>
          </a:p>
          <a:p>
            <a:r>
              <a:rPr lang="en-US" sz="1800" b="1" dirty="0">
                <a:latin typeface="Arial" panose="020B0604020202020204" pitchFamily="34" charset="0"/>
                <a:cs typeface="Arial" panose="020B0604020202020204" pitchFamily="34" charset="0"/>
              </a:rPr>
              <a:t>Decision Tree Regressor:</a:t>
            </a:r>
            <a:br>
              <a:rPr lang="en-US" sz="1800" dirty="0">
                <a:latin typeface="Arial" panose="020B0604020202020204" pitchFamily="34" charset="0"/>
                <a:cs typeface="Arial" panose="020B0604020202020204" pitchFamily="34" charset="0"/>
              </a:rPr>
            </a:br>
            <a:r>
              <a:rPr lang="en-US" sz="1800" dirty="0">
                <a:latin typeface="Arial" panose="020B0604020202020204" pitchFamily="34" charset="0"/>
                <a:cs typeface="Arial" panose="020B0604020202020204" pitchFamily="34" charset="0"/>
              </a:rPr>
              <a:t>Captured nonlinear dependencies by splitting data into decision nodes.</a:t>
            </a:r>
            <a:br>
              <a:rPr lang="en-US" sz="1800" dirty="0">
                <a:latin typeface="Arial" panose="020B0604020202020204" pitchFamily="34" charset="0"/>
                <a:cs typeface="Arial" panose="020B0604020202020204" pitchFamily="34" charset="0"/>
              </a:rPr>
            </a:br>
            <a:r>
              <a:rPr lang="en-US" sz="1800" dirty="0">
                <a:latin typeface="Arial" panose="020B0604020202020204" pitchFamily="34" charset="0"/>
                <a:cs typeface="Arial" panose="020B0604020202020204" pitchFamily="34" charset="0"/>
              </a:rPr>
              <a:t>→ Result: Improved accuracy (R² = 0.99), but prone to overfitting.</a:t>
            </a:r>
          </a:p>
          <a:p>
            <a:r>
              <a:rPr lang="en-US" sz="1800" b="1" dirty="0">
                <a:latin typeface="Arial" panose="020B0604020202020204" pitchFamily="34" charset="0"/>
                <a:cs typeface="Arial" panose="020B0604020202020204" pitchFamily="34" charset="0"/>
              </a:rPr>
              <a:t>Random Forest Regressor:</a:t>
            </a:r>
            <a:br>
              <a:rPr lang="en-US" sz="1800" dirty="0">
                <a:latin typeface="Arial" panose="020B0604020202020204" pitchFamily="34" charset="0"/>
                <a:cs typeface="Arial" panose="020B0604020202020204" pitchFamily="34" charset="0"/>
              </a:rPr>
            </a:br>
            <a:r>
              <a:rPr lang="en-US" sz="1800" dirty="0">
                <a:latin typeface="Arial" panose="020B0604020202020204" pitchFamily="34" charset="0"/>
                <a:cs typeface="Arial" panose="020B0604020202020204" pitchFamily="34" charset="0"/>
              </a:rPr>
              <a:t>Combined multiple trees to enhance stability and reduce variance.</a:t>
            </a:r>
            <a:br>
              <a:rPr lang="en-US" sz="1800" dirty="0">
                <a:latin typeface="Arial" panose="020B0604020202020204" pitchFamily="34" charset="0"/>
                <a:cs typeface="Arial" panose="020B0604020202020204" pitchFamily="34" charset="0"/>
              </a:rPr>
            </a:br>
            <a:r>
              <a:rPr lang="en-US" sz="1800" dirty="0">
                <a:latin typeface="Arial" panose="020B0604020202020204" pitchFamily="34" charset="0"/>
                <a:cs typeface="Arial" panose="020B0604020202020204" pitchFamily="34" charset="0"/>
              </a:rPr>
              <a:t>→ Result: Achieved high accuracy (R² = 0.995, RMSE = 0.032).</a:t>
            </a:r>
          </a:p>
          <a:p>
            <a:pPr marL="0" indent="0">
              <a:buNone/>
            </a:pPr>
            <a:endParaRPr lang="en-US" sz="1800" dirty="0"/>
          </a:p>
          <a:p>
            <a:pPr marL="0" indent="0">
              <a:buNone/>
            </a:pPr>
            <a:endParaRPr lang="en-IN" sz="1800" dirty="0">
              <a:latin typeface="Arial" panose="020B0604020202020204" pitchFamily="34" charset="0"/>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A6B3E-A0ED-AD8F-1E95-A293EC4EE4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C0D190-94B0-6D5F-5EF6-74302C2B4005}"/>
              </a:ext>
            </a:extLst>
          </p:cNvPr>
          <p:cNvSpPr>
            <a:spLocks noGrp="1"/>
          </p:cNvSpPr>
          <p:nvPr>
            <p:ph type="title"/>
          </p:nvPr>
        </p:nvSpPr>
        <p:spPr>
          <a:xfrm>
            <a:off x="457200" y="0"/>
            <a:ext cx="8229600" cy="1143000"/>
          </a:xfrm>
        </p:spPr>
        <p:txBody>
          <a:bodyPr/>
          <a:lstStyle/>
          <a:p>
            <a:r>
              <a:rPr dirty="0">
                <a:latin typeface="Times New Roman" panose="02020603050405020304" pitchFamily="18" charset="0"/>
                <a:cs typeface="Times New Roman" panose="02020603050405020304" pitchFamily="18" charset="0"/>
              </a:rPr>
              <a:t>Regression Models</a:t>
            </a:r>
          </a:p>
        </p:txBody>
      </p:sp>
      <p:sp>
        <p:nvSpPr>
          <p:cNvPr id="3" name="Content Placeholder 2">
            <a:extLst>
              <a:ext uri="{FF2B5EF4-FFF2-40B4-BE49-F238E27FC236}">
                <a16:creationId xmlns:a16="http://schemas.microsoft.com/office/drawing/2014/main" id="{4BCE24C2-469E-E8B0-0132-253D8D66A547}"/>
              </a:ext>
            </a:extLst>
          </p:cNvPr>
          <p:cNvSpPr>
            <a:spLocks noGrp="1"/>
          </p:cNvSpPr>
          <p:nvPr>
            <p:ph idx="1"/>
          </p:nvPr>
        </p:nvSpPr>
        <p:spPr>
          <a:xfrm>
            <a:off x="457200" y="1161854"/>
            <a:ext cx="8229600" cy="4930218"/>
          </a:xfrm>
        </p:spPr>
        <p:txBody>
          <a:bodyPr>
            <a:normAutofit fontScale="77500" lnSpcReduction="20000"/>
          </a:bodyPr>
          <a:lstStyle/>
          <a:p>
            <a:r>
              <a:rPr lang="en-IN" sz="2300" b="1" dirty="0">
                <a:latin typeface="Arial" panose="020B0604020202020204" pitchFamily="34" charset="0"/>
                <a:cs typeface="Arial" panose="020B0604020202020204" pitchFamily="34" charset="0"/>
              </a:rPr>
              <a:t>Gradient Boosting Regressor:</a:t>
            </a:r>
            <a:br>
              <a:rPr lang="en-IN" sz="2300" dirty="0">
                <a:latin typeface="Arial" panose="020B0604020202020204" pitchFamily="34" charset="0"/>
                <a:cs typeface="Arial" panose="020B0604020202020204" pitchFamily="34" charset="0"/>
              </a:rPr>
            </a:br>
            <a:r>
              <a:rPr lang="en-IN" sz="2300" dirty="0">
                <a:latin typeface="Arial" panose="020B0604020202020204" pitchFamily="34" charset="0"/>
                <a:cs typeface="Arial" panose="020B0604020202020204" pitchFamily="34" charset="0"/>
              </a:rPr>
              <a:t>Sequentially improved weak learners to minimize prediction errors.</a:t>
            </a:r>
            <a:br>
              <a:rPr lang="en-IN" sz="2300" dirty="0">
                <a:latin typeface="Arial" panose="020B0604020202020204" pitchFamily="34" charset="0"/>
                <a:cs typeface="Arial" panose="020B0604020202020204" pitchFamily="34" charset="0"/>
              </a:rPr>
            </a:br>
            <a:r>
              <a:rPr lang="en-IN" sz="2300" dirty="0">
                <a:latin typeface="Arial" panose="020B0604020202020204" pitchFamily="34" charset="0"/>
                <a:cs typeface="Arial" panose="020B0604020202020204" pitchFamily="34" charset="0"/>
              </a:rPr>
              <a:t>→ Result: Excellent performance (R² = 0.995, RMSE = 0.031).</a:t>
            </a:r>
          </a:p>
          <a:p>
            <a:r>
              <a:rPr lang="en-IN" sz="2300" b="1" dirty="0" err="1">
                <a:latin typeface="Arial" panose="020B0604020202020204" pitchFamily="34" charset="0"/>
                <a:cs typeface="Arial" panose="020B0604020202020204" pitchFamily="34" charset="0"/>
              </a:rPr>
              <a:t>XGBoost</a:t>
            </a:r>
            <a:r>
              <a:rPr lang="en-IN" sz="2300" b="1" dirty="0">
                <a:latin typeface="Arial" panose="020B0604020202020204" pitchFamily="34" charset="0"/>
                <a:cs typeface="Arial" panose="020B0604020202020204" pitchFamily="34" charset="0"/>
              </a:rPr>
              <a:t> Regressor:</a:t>
            </a:r>
            <a:br>
              <a:rPr lang="en-IN" sz="2300" dirty="0">
                <a:latin typeface="Arial" panose="020B0604020202020204" pitchFamily="34" charset="0"/>
                <a:cs typeface="Arial" panose="020B0604020202020204" pitchFamily="34" charset="0"/>
              </a:rPr>
            </a:br>
            <a:r>
              <a:rPr lang="en-IN" sz="2300" dirty="0">
                <a:latin typeface="Arial" panose="020B0604020202020204" pitchFamily="34" charset="0"/>
                <a:cs typeface="Arial" panose="020B0604020202020204" pitchFamily="34" charset="0"/>
              </a:rPr>
              <a:t>Optimized gradient boosting algorithm offering speed and regularization.</a:t>
            </a:r>
            <a:br>
              <a:rPr lang="en-IN" sz="2300" dirty="0">
                <a:latin typeface="Arial" panose="020B0604020202020204" pitchFamily="34" charset="0"/>
                <a:cs typeface="Arial" panose="020B0604020202020204" pitchFamily="34" charset="0"/>
              </a:rPr>
            </a:br>
            <a:r>
              <a:rPr lang="en-IN" sz="2300" dirty="0">
                <a:latin typeface="Arial" panose="020B0604020202020204" pitchFamily="34" charset="0"/>
                <a:cs typeface="Arial" panose="020B0604020202020204" pitchFamily="34" charset="0"/>
              </a:rPr>
              <a:t>→ Result: Matched Gradient Boosting accuracy (R² = 0.995, RMSE = 0.031).</a:t>
            </a:r>
          </a:p>
          <a:p>
            <a:r>
              <a:rPr lang="en-IN" sz="2300" b="1" dirty="0">
                <a:latin typeface="Arial" panose="020B0604020202020204" pitchFamily="34" charset="0"/>
                <a:cs typeface="Arial" panose="020B0604020202020204" pitchFamily="34" charset="0"/>
              </a:rPr>
              <a:t>Support Vector Regressor (SVR):</a:t>
            </a:r>
            <a:br>
              <a:rPr lang="en-IN" sz="2300" dirty="0">
                <a:latin typeface="Arial" panose="020B0604020202020204" pitchFamily="34" charset="0"/>
                <a:cs typeface="Arial" panose="020B0604020202020204" pitchFamily="34" charset="0"/>
              </a:rPr>
            </a:br>
            <a:r>
              <a:rPr lang="en-IN" sz="2300" dirty="0">
                <a:latin typeface="Arial" panose="020B0604020202020204" pitchFamily="34" charset="0"/>
                <a:cs typeface="Arial" panose="020B0604020202020204" pitchFamily="34" charset="0"/>
              </a:rPr>
              <a:t>Applied for mapping high-dimensional relationships using kernel functions.</a:t>
            </a:r>
            <a:br>
              <a:rPr lang="en-IN" sz="2300" dirty="0">
                <a:latin typeface="Arial" panose="020B0604020202020204" pitchFamily="34" charset="0"/>
                <a:cs typeface="Arial" panose="020B0604020202020204" pitchFamily="34" charset="0"/>
              </a:rPr>
            </a:br>
            <a:r>
              <a:rPr lang="en-IN" sz="2300" dirty="0">
                <a:latin typeface="Arial" panose="020B0604020202020204" pitchFamily="34" charset="0"/>
                <a:cs typeface="Arial" panose="020B0604020202020204" pitchFamily="34" charset="0"/>
              </a:rPr>
              <a:t>→ Result: Moderate accuracy (R² = 0.965, RMSE = 0.083).</a:t>
            </a:r>
          </a:p>
          <a:p>
            <a:r>
              <a:rPr lang="en-IN" sz="2300" b="1" dirty="0">
                <a:latin typeface="Arial" panose="020B0604020202020204" pitchFamily="34" charset="0"/>
                <a:cs typeface="Arial" panose="020B0604020202020204" pitchFamily="34" charset="0"/>
              </a:rPr>
              <a:t>K-Nearest </a:t>
            </a:r>
            <a:r>
              <a:rPr lang="en-IN" sz="2300" b="1" dirty="0" err="1">
                <a:latin typeface="Arial" panose="020B0604020202020204" pitchFamily="34" charset="0"/>
                <a:cs typeface="Arial" panose="020B0604020202020204" pitchFamily="34" charset="0"/>
              </a:rPr>
              <a:t>Neighbors</a:t>
            </a:r>
            <a:r>
              <a:rPr lang="en-IN" sz="2300" b="1" dirty="0">
                <a:latin typeface="Arial" panose="020B0604020202020204" pitchFamily="34" charset="0"/>
                <a:cs typeface="Arial" panose="020B0604020202020204" pitchFamily="34" charset="0"/>
              </a:rPr>
              <a:t> (KNN) Regressor:</a:t>
            </a:r>
            <a:br>
              <a:rPr lang="en-IN" sz="2300" dirty="0">
                <a:latin typeface="Arial" panose="020B0604020202020204" pitchFamily="34" charset="0"/>
                <a:cs typeface="Arial" panose="020B0604020202020204" pitchFamily="34" charset="0"/>
              </a:rPr>
            </a:br>
            <a:r>
              <a:rPr lang="en-IN" sz="2300" dirty="0">
                <a:latin typeface="Arial" panose="020B0604020202020204" pitchFamily="34" charset="0"/>
                <a:cs typeface="Arial" panose="020B0604020202020204" pitchFamily="34" charset="0"/>
              </a:rPr>
              <a:t>Predicted based on similarity between facilities but was sensitive to data scaling.</a:t>
            </a:r>
            <a:br>
              <a:rPr lang="en-IN" sz="2300" dirty="0">
                <a:latin typeface="Arial" panose="020B0604020202020204" pitchFamily="34" charset="0"/>
                <a:cs typeface="Arial" panose="020B0604020202020204" pitchFamily="34" charset="0"/>
              </a:rPr>
            </a:br>
            <a:r>
              <a:rPr lang="en-IN" sz="2300" dirty="0">
                <a:latin typeface="Arial" panose="020B0604020202020204" pitchFamily="34" charset="0"/>
                <a:cs typeface="Arial" panose="020B0604020202020204" pitchFamily="34" charset="0"/>
              </a:rPr>
              <a:t>→ Result: Lower accuracy (R² = 0.921, RMSE = 0.125).</a:t>
            </a:r>
          </a:p>
          <a:p>
            <a:pPr marL="0" indent="0">
              <a:buNone/>
            </a:pPr>
            <a:endParaRPr lang="en-IN" sz="2100" b="1" dirty="0">
              <a:latin typeface="Arial" panose="020B0604020202020204" pitchFamily="34" charset="0"/>
              <a:cs typeface="Arial" panose="020B0604020202020204" pitchFamily="34" charset="0"/>
            </a:endParaRPr>
          </a:p>
          <a:p>
            <a:pPr marL="0" indent="0">
              <a:buNone/>
            </a:pPr>
            <a:r>
              <a:rPr lang="en-IN" sz="2300" b="1" dirty="0">
                <a:latin typeface="Arial" panose="020B0604020202020204" pitchFamily="34" charset="0"/>
                <a:cs typeface="Arial" panose="020B0604020202020204" pitchFamily="34" charset="0"/>
              </a:rPr>
              <a:t>Key Insight</a:t>
            </a:r>
          </a:p>
          <a:p>
            <a:pPr marL="0" indent="0">
              <a:buNone/>
            </a:pPr>
            <a:r>
              <a:rPr lang="en-IN" sz="2300" dirty="0">
                <a:latin typeface="Arial" panose="020B0604020202020204" pitchFamily="34" charset="0"/>
                <a:cs typeface="Arial" panose="020B0604020202020204" pitchFamily="34" charset="0"/>
              </a:rPr>
              <a:t>Ensemble methods (</a:t>
            </a:r>
            <a:r>
              <a:rPr lang="en-IN" sz="2300" b="1" dirty="0">
                <a:latin typeface="Arial" panose="020B0604020202020204" pitchFamily="34" charset="0"/>
                <a:cs typeface="Arial" panose="020B0604020202020204" pitchFamily="34" charset="0"/>
              </a:rPr>
              <a:t>Gradient Boosting</a:t>
            </a:r>
            <a:r>
              <a:rPr lang="en-IN" sz="2300" dirty="0">
                <a:latin typeface="Arial" panose="020B0604020202020204" pitchFamily="34" charset="0"/>
                <a:cs typeface="Arial" panose="020B0604020202020204" pitchFamily="34" charset="0"/>
              </a:rPr>
              <a:t>, </a:t>
            </a:r>
            <a:r>
              <a:rPr lang="en-IN" sz="2300" b="1" dirty="0" err="1">
                <a:latin typeface="Arial" panose="020B0604020202020204" pitchFamily="34" charset="0"/>
                <a:cs typeface="Arial" panose="020B0604020202020204" pitchFamily="34" charset="0"/>
              </a:rPr>
              <a:t>XGBoost</a:t>
            </a:r>
            <a:r>
              <a:rPr lang="en-IN" sz="2300" dirty="0">
                <a:latin typeface="Arial" panose="020B0604020202020204" pitchFamily="34" charset="0"/>
                <a:cs typeface="Arial" panose="020B0604020202020204" pitchFamily="34" charset="0"/>
              </a:rPr>
              <a:t>, </a:t>
            </a:r>
            <a:r>
              <a:rPr lang="en-IN" sz="2300" b="1" dirty="0">
                <a:latin typeface="Arial" panose="020B0604020202020204" pitchFamily="34" charset="0"/>
                <a:cs typeface="Arial" panose="020B0604020202020204" pitchFamily="34" charset="0"/>
              </a:rPr>
              <a:t>Random Forest</a:t>
            </a:r>
            <a:r>
              <a:rPr lang="en-IN" sz="2300" dirty="0">
                <a:latin typeface="Arial" panose="020B0604020202020204" pitchFamily="34" charset="0"/>
                <a:cs typeface="Arial" panose="020B0604020202020204" pitchFamily="34" charset="0"/>
              </a:rPr>
              <a:t>) showed the </a:t>
            </a:r>
            <a:r>
              <a:rPr lang="en-IN" sz="2300" b="1" dirty="0">
                <a:latin typeface="Arial" panose="020B0604020202020204" pitchFamily="34" charset="0"/>
                <a:cs typeface="Arial" panose="020B0604020202020204" pitchFamily="34" charset="0"/>
              </a:rPr>
              <a:t>best predictive accuracy</a:t>
            </a:r>
            <a:r>
              <a:rPr lang="en-IN" sz="2300" dirty="0">
                <a:latin typeface="Arial" panose="020B0604020202020204" pitchFamily="34" charset="0"/>
                <a:cs typeface="Arial" panose="020B0604020202020204" pitchFamily="34" charset="0"/>
              </a:rPr>
              <a:t> and </a:t>
            </a:r>
            <a:r>
              <a:rPr lang="en-IN" sz="2300" b="1" dirty="0">
                <a:latin typeface="Arial" panose="020B0604020202020204" pitchFamily="34" charset="0"/>
                <a:cs typeface="Arial" panose="020B0604020202020204" pitchFamily="34" charset="0"/>
              </a:rPr>
              <a:t>lowest error rates</a:t>
            </a:r>
            <a:r>
              <a:rPr lang="en-IN" sz="2300" dirty="0">
                <a:latin typeface="Arial" panose="020B0604020202020204" pitchFamily="34" charset="0"/>
                <a:cs typeface="Arial" panose="020B0604020202020204" pitchFamily="34" charset="0"/>
              </a:rPr>
              <a:t>, proving highly effective for estimating facility capacity with complex, nonlinear patterns.</a:t>
            </a:r>
          </a:p>
          <a:p>
            <a:pPr marL="0" indent="0">
              <a:buNone/>
            </a:pPr>
            <a:endParaRPr lang="en-US" sz="1800" dirty="0"/>
          </a:p>
          <a:p>
            <a:pPr marL="0" indent="0">
              <a:buNone/>
            </a:pPr>
            <a:endParaRPr lang="en-IN"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832109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0894" y="-71956"/>
            <a:ext cx="8229600" cy="1143000"/>
          </a:xfrm>
        </p:spPr>
        <p:txBody>
          <a:bodyPr/>
          <a:lstStyle/>
          <a:p>
            <a:r>
              <a:rPr dirty="0">
                <a:latin typeface="Times New Roman" panose="02020603050405020304" pitchFamily="18" charset="0"/>
                <a:cs typeface="Times New Roman" panose="02020603050405020304" pitchFamily="18" charset="0"/>
              </a:rPr>
              <a:t>Classification Models</a:t>
            </a:r>
          </a:p>
        </p:txBody>
      </p:sp>
      <p:sp>
        <p:nvSpPr>
          <p:cNvPr id="4" name="Rectangle 1">
            <a:extLst>
              <a:ext uri="{FF2B5EF4-FFF2-40B4-BE49-F238E27FC236}">
                <a16:creationId xmlns:a16="http://schemas.microsoft.com/office/drawing/2014/main" id="{868DCC9A-A4DD-CE06-268E-E3DC8DFF7D6C}"/>
              </a:ext>
            </a:extLst>
          </p:cNvPr>
          <p:cNvSpPr>
            <a:spLocks noGrp="1" noChangeArrowheads="1"/>
          </p:cNvSpPr>
          <p:nvPr>
            <p:ph idx="1"/>
          </p:nvPr>
        </p:nvSpPr>
        <p:spPr bwMode="auto">
          <a:xfrm>
            <a:off x="353505" y="1649258"/>
            <a:ext cx="8436989" cy="41365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1800" b="1" dirty="0">
                <a:latin typeface="Arial" panose="020B0604020202020204" pitchFamily="34" charset="0"/>
                <a:cs typeface="Arial" panose="020B0604020202020204" pitchFamily="34" charset="0"/>
              </a:rPr>
              <a:t>Models and Rationale</a:t>
            </a:r>
          </a:p>
          <a:p>
            <a:r>
              <a:rPr lang="en-US" sz="1800" b="1" dirty="0">
                <a:latin typeface="Arial" panose="020B0604020202020204" pitchFamily="34" charset="0"/>
                <a:cs typeface="Arial" panose="020B0604020202020204" pitchFamily="34" charset="0"/>
              </a:rPr>
              <a:t>Logistic Regression:</a:t>
            </a:r>
            <a:br>
              <a:rPr lang="en-US" sz="1800" dirty="0">
                <a:latin typeface="Arial" panose="020B0604020202020204" pitchFamily="34" charset="0"/>
                <a:cs typeface="Arial" panose="020B0604020202020204" pitchFamily="34" charset="0"/>
              </a:rPr>
            </a:br>
            <a:r>
              <a:rPr lang="en-US" sz="1800" dirty="0">
                <a:latin typeface="Arial" panose="020B0604020202020204" pitchFamily="34" charset="0"/>
                <a:cs typeface="Arial" panose="020B0604020202020204" pitchFamily="34" charset="0"/>
              </a:rPr>
              <a:t>Used as a baseline classifier to test the linear separability of categorical facility data.</a:t>
            </a:r>
            <a:br>
              <a:rPr lang="en-US" sz="1800" dirty="0">
                <a:latin typeface="Arial" panose="020B0604020202020204" pitchFamily="34" charset="0"/>
                <a:cs typeface="Arial" panose="020B0604020202020204" pitchFamily="34" charset="0"/>
              </a:rPr>
            </a:br>
            <a:r>
              <a:rPr lang="en-US" sz="1800" dirty="0">
                <a:latin typeface="Arial" panose="020B0604020202020204" pitchFamily="34" charset="0"/>
                <a:cs typeface="Arial" panose="020B0604020202020204" pitchFamily="34" charset="0"/>
              </a:rPr>
              <a:t>→ Result: Moderate performance (</a:t>
            </a:r>
            <a:r>
              <a:rPr lang="en-US" sz="1800" b="1" dirty="0">
                <a:latin typeface="Arial" panose="020B0604020202020204" pitchFamily="34" charset="0"/>
                <a:cs typeface="Arial" panose="020B0604020202020204" pitchFamily="34" charset="0"/>
              </a:rPr>
              <a:t>Accuracy = 0.804</a:t>
            </a:r>
            <a:r>
              <a:rPr lang="en-US" sz="1800" dirty="0">
                <a:latin typeface="Arial" panose="020B0604020202020204" pitchFamily="34" charset="0"/>
                <a:cs typeface="Arial" panose="020B0604020202020204" pitchFamily="34" charset="0"/>
              </a:rPr>
              <a:t>), showing that the data had nonlinear class boundaries.</a:t>
            </a:r>
          </a:p>
          <a:p>
            <a:r>
              <a:rPr lang="en-US" sz="1800" b="1" dirty="0">
                <a:latin typeface="Arial" panose="020B0604020202020204" pitchFamily="34" charset="0"/>
                <a:cs typeface="Arial" panose="020B0604020202020204" pitchFamily="34" charset="0"/>
              </a:rPr>
              <a:t>Decision Tree Classifier:</a:t>
            </a:r>
            <a:br>
              <a:rPr lang="en-US" sz="1800" dirty="0">
                <a:latin typeface="Arial" panose="020B0604020202020204" pitchFamily="34" charset="0"/>
                <a:cs typeface="Arial" panose="020B0604020202020204" pitchFamily="34" charset="0"/>
              </a:rPr>
            </a:br>
            <a:r>
              <a:rPr lang="en-US" sz="1800" dirty="0">
                <a:latin typeface="Arial" panose="020B0604020202020204" pitchFamily="34" charset="0"/>
                <a:cs typeface="Arial" panose="020B0604020202020204" pitchFamily="34" charset="0"/>
              </a:rPr>
              <a:t>Applied to model complex decision rules using hierarchical splitting.</a:t>
            </a:r>
            <a:br>
              <a:rPr lang="en-US" sz="1800" dirty="0">
                <a:latin typeface="Arial" panose="020B0604020202020204" pitchFamily="34" charset="0"/>
                <a:cs typeface="Arial" panose="020B0604020202020204" pitchFamily="34" charset="0"/>
              </a:rPr>
            </a:br>
            <a:r>
              <a:rPr lang="en-US" sz="1800" dirty="0">
                <a:latin typeface="Arial" panose="020B0604020202020204" pitchFamily="34" charset="0"/>
                <a:cs typeface="Arial" panose="020B0604020202020204" pitchFamily="34" charset="0"/>
              </a:rPr>
              <a:t>→ Result: High accuracy (</a:t>
            </a:r>
            <a:r>
              <a:rPr lang="en-US" sz="1800" b="1" dirty="0">
                <a:latin typeface="Arial" panose="020B0604020202020204" pitchFamily="34" charset="0"/>
                <a:cs typeface="Arial" panose="020B0604020202020204" pitchFamily="34" charset="0"/>
              </a:rPr>
              <a:t>Accuracy = 0.998</a:t>
            </a:r>
            <a:r>
              <a:rPr lang="en-US" sz="1800" dirty="0">
                <a:latin typeface="Arial" panose="020B0604020202020204" pitchFamily="34" charset="0"/>
                <a:cs typeface="Arial" panose="020B0604020202020204" pitchFamily="34" charset="0"/>
              </a:rPr>
              <a:t>), but slight overfitting observed.</a:t>
            </a:r>
          </a:p>
          <a:p>
            <a:r>
              <a:rPr lang="en-US" sz="1800" b="1" dirty="0">
                <a:latin typeface="Arial" panose="020B0604020202020204" pitchFamily="34" charset="0"/>
                <a:cs typeface="Arial" panose="020B0604020202020204" pitchFamily="34" charset="0"/>
              </a:rPr>
              <a:t>Random Forest Classifier:</a:t>
            </a:r>
            <a:br>
              <a:rPr lang="en-US" sz="1800" dirty="0">
                <a:latin typeface="Arial" panose="020B0604020202020204" pitchFamily="34" charset="0"/>
                <a:cs typeface="Arial" panose="020B0604020202020204" pitchFamily="34" charset="0"/>
              </a:rPr>
            </a:br>
            <a:r>
              <a:rPr lang="en-US" sz="1800" dirty="0">
                <a:latin typeface="Arial" panose="020B0604020202020204" pitchFamily="34" charset="0"/>
                <a:cs typeface="Arial" panose="020B0604020202020204" pitchFamily="34" charset="0"/>
              </a:rPr>
              <a:t>Ensemble of decision trees to improve generalization and reduce noise.</a:t>
            </a:r>
            <a:br>
              <a:rPr lang="en-US" sz="1800" dirty="0">
                <a:latin typeface="Arial" panose="020B0604020202020204" pitchFamily="34" charset="0"/>
                <a:cs typeface="Arial" panose="020B0604020202020204" pitchFamily="34" charset="0"/>
              </a:rPr>
            </a:br>
            <a:r>
              <a:rPr lang="en-US" sz="1800" dirty="0">
                <a:latin typeface="Arial" panose="020B0604020202020204" pitchFamily="34" charset="0"/>
                <a:cs typeface="Arial" panose="020B0604020202020204" pitchFamily="34" charset="0"/>
              </a:rPr>
              <a:t>→ Result: Excellent performance (</a:t>
            </a:r>
            <a:r>
              <a:rPr lang="en-US" sz="1800" b="1" dirty="0">
                <a:latin typeface="Arial" panose="020B0604020202020204" pitchFamily="34" charset="0"/>
                <a:cs typeface="Arial" panose="020B0604020202020204" pitchFamily="34" charset="0"/>
              </a:rPr>
              <a:t>Accuracy = 0.999</a:t>
            </a:r>
            <a:r>
              <a:rPr lang="en-US" sz="1800" dirty="0">
                <a:latin typeface="Arial" panose="020B0604020202020204" pitchFamily="34" charset="0"/>
                <a:cs typeface="Arial" panose="020B0604020202020204" pitchFamily="34" charset="0"/>
              </a:rPr>
              <a:t>), stable across all facility types.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1" i="1" u="sng"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A6D3A-5E97-798D-E434-CFD699CBF4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2EEF56-5A32-D2E6-F2C6-98E4D4757F04}"/>
              </a:ext>
            </a:extLst>
          </p:cNvPr>
          <p:cNvSpPr>
            <a:spLocks noGrp="1"/>
          </p:cNvSpPr>
          <p:nvPr>
            <p:ph type="title"/>
          </p:nvPr>
        </p:nvSpPr>
        <p:spPr>
          <a:xfrm>
            <a:off x="560894" y="-71956"/>
            <a:ext cx="8229600" cy="1143000"/>
          </a:xfrm>
        </p:spPr>
        <p:txBody>
          <a:bodyPr/>
          <a:lstStyle/>
          <a:p>
            <a:r>
              <a:rPr dirty="0">
                <a:latin typeface="Times New Roman" panose="02020603050405020304" pitchFamily="18" charset="0"/>
                <a:cs typeface="Times New Roman" panose="02020603050405020304" pitchFamily="18" charset="0"/>
              </a:rPr>
              <a:t>Classification Models</a:t>
            </a:r>
          </a:p>
        </p:txBody>
      </p:sp>
      <p:sp>
        <p:nvSpPr>
          <p:cNvPr id="4" name="Rectangle 1">
            <a:extLst>
              <a:ext uri="{FF2B5EF4-FFF2-40B4-BE49-F238E27FC236}">
                <a16:creationId xmlns:a16="http://schemas.microsoft.com/office/drawing/2014/main" id="{1C035860-0D0B-0475-DB4A-5424D7F90A6E}"/>
              </a:ext>
            </a:extLst>
          </p:cNvPr>
          <p:cNvSpPr>
            <a:spLocks noGrp="1" noChangeArrowheads="1"/>
          </p:cNvSpPr>
          <p:nvPr>
            <p:ph idx="1"/>
          </p:nvPr>
        </p:nvSpPr>
        <p:spPr bwMode="auto">
          <a:xfrm>
            <a:off x="353505" y="1427659"/>
            <a:ext cx="8436989" cy="4579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800" b="1" dirty="0">
                <a:latin typeface="Arial" panose="020B0604020202020204" pitchFamily="34" charset="0"/>
                <a:cs typeface="Arial" panose="020B0604020202020204" pitchFamily="34" charset="0"/>
              </a:rPr>
              <a:t>Support Vector Machine (SVM):</a:t>
            </a:r>
            <a:br>
              <a:rPr lang="en-US" sz="1800" dirty="0">
                <a:latin typeface="Arial" panose="020B0604020202020204" pitchFamily="34" charset="0"/>
                <a:cs typeface="Arial" panose="020B0604020202020204" pitchFamily="34" charset="0"/>
              </a:rPr>
            </a:br>
            <a:r>
              <a:rPr lang="en-US" sz="1800" dirty="0">
                <a:latin typeface="Arial" panose="020B0604020202020204" pitchFamily="34" charset="0"/>
                <a:cs typeface="Arial" panose="020B0604020202020204" pitchFamily="34" charset="0"/>
              </a:rPr>
              <a:t>Used to find optimal class boundaries in high-dimensional space.</a:t>
            </a:r>
            <a:br>
              <a:rPr lang="en-US" sz="1800" dirty="0">
                <a:latin typeface="Arial" panose="020B0604020202020204" pitchFamily="34" charset="0"/>
                <a:cs typeface="Arial" panose="020B0604020202020204" pitchFamily="34" charset="0"/>
              </a:rPr>
            </a:br>
            <a:r>
              <a:rPr lang="en-US" sz="1800" dirty="0">
                <a:latin typeface="Arial" panose="020B0604020202020204" pitchFamily="34" charset="0"/>
                <a:cs typeface="Arial" panose="020B0604020202020204" pitchFamily="34" charset="0"/>
              </a:rPr>
              <a:t>→ Result: Good generalization (</a:t>
            </a:r>
            <a:r>
              <a:rPr lang="en-US" sz="1800" b="1" dirty="0">
                <a:latin typeface="Arial" panose="020B0604020202020204" pitchFamily="34" charset="0"/>
                <a:cs typeface="Arial" panose="020B0604020202020204" pitchFamily="34" charset="0"/>
              </a:rPr>
              <a:t>Accuracy = 0.730</a:t>
            </a:r>
            <a:r>
              <a:rPr lang="en-US" sz="1800" dirty="0">
                <a:latin typeface="Arial" panose="020B0604020202020204" pitchFamily="34" charset="0"/>
                <a:cs typeface="Arial" panose="020B0604020202020204" pitchFamily="34" charset="0"/>
              </a:rPr>
              <a:t>), but slower on large datasets.</a:t>
            </a:r>
          </a:p>
          <a:p>
            <a:r>
              <a:rPr lang="en-US" sz="1800" b="1" dirty="0">
                <a:latin typeface="Arial" panose="020B0604020202020204" pitchFamily="34" charset="0"/>
                <a:cs typeface="Arial" panose="020B0604020202020204" pitchFamily="34" charset="0"/>
              </a:rPr>
              <a:t>K-Nearest Neighbors (KNN):</a:t>
            </a:r>
            <a:br>
              <a:rPr lang="en-US" sz="1800" dirty="0">
                <a:latin typeface="Arial" panose="020B0604020202020204" pitchFamily="34" charset="0"/>
                <a:cs typeface="Arial" panose="020B0604020202020204" pitchFamily="34" charset="0"/>
              </a:rPr>
            </a:br>
            <a:r>
              <a:rPr lang="en-US" sz="1800" dirty="0">
                <a:latin typeface="Arial" panose="020B0604020202020204" pitchFamily="34" charset="0"/>
                <a:cs typeface="Arial" panose="020B0604020202020204" pitchFamily="34" charset="0"/>
              </a:rPr>
              <a:t>Classified based on proximity between data points in feature space.</a:t>
            </a:r>
            <a:br>
              <a:rPr lang="en-US" sz="1800" dirty="0">
                <a:latin typeface="Arial" panose="020B0604020202020204" pitchFamily="34" charset="0"/>
                <a:cs typeface="Arial" panose="020B0604020202020204" pitchFamily="34" charset="0"/>
              </a:rPr>
            </a:br>
            <a:r>
              <a:rPr lang="en-US" sz="1800" dirty="0">
                <a:latin typeface="Arial" panose="020B0604020202020204" pitchFamily="34" charset="0"/>
                <a:cs typeface="Arial" panose="020B0604020202020204" pitchFamily="34" charset="0"/>
              </a:rPr>
              <a:t>→ Result: Moderate accuracy (</a:t>
            </a:r>
            <a:r>
              <a:rPr lang="en-US" sz="1800" b="1" dirty="0">
                <a:latin typeface="Arial" panose="020B0604020202020204" pitchFamily="34" charset="0"/>
                <a:cs typeface="Arial" panose="020B0604020202020204" pitchFamily="34" charset="0"/>
              </a:rPr>
              <a:t>Accuracy = 0.753</a:t>
            </a:r>
            <a:r>
              <a:rPr lang="en-US" sz="1800" dirty="0">
                <a:latin typeface="Arial" panose="020B0604020202020204" pitchFamily="34" charset="0"/>
                <a:cs typeface="Arial" panose="020B0604020202020204" pitchFamily="34" charset="0"/>
              </a:rPr>
              <a:t>), affected by data scaling.</a:t>
            </a:r>
          </a:p>
          <a:p>
            <a:pPr marL="0" indent="0">
              <a:buNone/>
            </a:pPr>
            <a:endParaRPr lang="en-US" sz="1800" b="1" dirty="0">
              <a:latin typeface="Arial" panose="020B0604020202020204" pitchFamily="34" charset="0"/>
              <a:cs typeface="Arial" panose="020B0604020202020204" pitchFamily="34" charset="0"/>
            </a:endParaRPr>
          </a:p>
          <a:p>
            <a:pPr marL="0" indent="0">
              <a:buNone/>
            </a:pPr>
            <a:r>
              <a:rPr lang="en-US" sz="1800" b="1" dirty="0">
                <a:latin typeface="Arial" panose="020B0604020202020204" pitchFamily="34" charset="0"/>
                <a:cs typeface="Arial" panose="020B0604020202020204" pitchFamily="34" charset="0"/>
              </a:rPr>
              <a:t>Key Insight</a:t>
            </a:r>
          </a:p>
          <a:p>
            <a:r>
              <a:rPr lang="en-US" sz="1800" b="1" dirty="0">
                <a:latin typeface="Arial" panose="020B0604020202020204" pitchFamily="34" charset="0"/>
                <a:cs typeface="Arial" panose="020B0604020202020204" pitchFamily="34" charset="0"/>
              </a:rPr>
              <a:t>Ensemble models</a:t>
            </a:r>
            <a:r>
              <a:rPr lang="en-US" sz="1800" dirty="0">
                <a:latin typeface="Arial" panose="020B0604020202020204" pitchFamily="34" charset="0"/>
                <a:cs typeface="Arial" panose="020B0604020202020204" pitchFamily="34" charset="0"/>
              </a:rPr>
              <a:t> such as </a:t>
            </a:r>
            <a:r>
              <a:rPr lang="en-US" sz="1800" b="1" dirty="0" err="1">
                <a:latin typeface="Arial" panose="020B0604020202020204" pitchFamily="34" charset="0"/>
                <a:cs typeface="Arial" panose="020B0604020202020204" pitchFamily="34" charset="0"/>
              </a:rPr>
              <a:t>CatBoost</a:t>
            </a:r>
            <a:r>
              <a:rPr lang="en-US" sz="1800" dirty="0">
                <a:latin typeface="Arial" panose="020B0604020202020204" pitchFamily="34" charset="0"/>
                <a:cs typeface="Arial" panose="020B0604020202020204" pitchFamily="34" charset="0"/>
              </a:rPr>
              <a:t>, </a:t>
            </a:r>
            <a:r>
              <a:rPr lang="en-US" sz="1800" b="1" dirty="0" err="1">
                <a:latin typeface="Arial" panose="020B0604020202020204" pitchFamily="34" charset="0"/>
                <a:cs typeface="Arial" panose="020B0604020202020204" pitchFamily="34" charset="0"/>
              </a:rPr>
              <a:t>XGBoost</a:t>
            </a:r>
            <a:r>
              <a:rPr lang="en-US" sz="1800" dirty="0">
                <a:latin typeface="Arial" panose="020B0604020202020204" pitchFamily="34" charset="0"/>
                <a:cs typeface="Arial" panose="020B0604020202020204" pitchFamily="34" charset="0"/>
              </a:rPr>
              <a:t>, </a:t>
            </a:r>
            <a:r>
              <a:rPr lang="en-US" sz="1800" b="1" dirty="0">
                <a:latin typeface="Arial" panose="020B0604020202020204" pitchFamily="34" charset="0"/>
                <a:cs typeface="Arial" panose="020B0604020202020204" pitchFamily="34" charset="0"/>
              </a:rPr>
              <a:t>Random Forest</a:t>
            </a:r>
            <a:r>
              <a:rPr lang="en-US" sz="1800" dirty="0">
                <a:latin typeface="Arial" panose="020B0604020202020204" pitchFamily="34" charset="0"/>
                <a:cs typeface="Arial" panose="020B0604020202020204" pitchFamily="34" charset="0"/>
              </a:rPr>
              <a:t>, and </a:t>
            </a:r>
            <a:r>
              <a:rPr lang="en-US" sz="1800" b="1" dirty="0">
                <a:latin typeface="Arial" panose="020B0604020202020204" pitchFamily="34" charset="0"/>
                <a:cs typeface="Arial" panose="020B0604020202020204" pitchFamily="34" charset="0"/>
              </a:rPr>
              <a:t>Gradient Boosting</a:t>
            </a:r>
            <a:r>
              <a:rPr lang="en-US" sz="1800" dirty="0">
                <a:latin typeface="Arial" panose="020B0604020202020204" pitchFamily="34" charset="0"/>
                <a:cs typeface="Arial" panose="020B0604020202020204" pitchFamily="34" charset="0"/>
              </a:rPr>
              <a:t> demonstrated </a:t>
            </a:r>
            <a:r>
              <a:rPr lang="en-US" sz="1800" b="1" dirty="0">
                <a:latin typeface="Arial" panose="020B0604020202020204" pitchFamily="34" charset="0"/>
                <a:cs typeface="Arial" panose="020B0604020202020204" pitchFamily="34" charset="0"/>
              </a:rPr>
              <a:t>exceptional accuracy</a:t>
            </a:r>
            <a:r>
              <a:rPr lang="en-US" sz="1800" dirty="0">
                <a:latin typeface="Arial" panose="020B0604020202020204" pitchFamily="34" charset="0"/>
                <a:cs typeface="Arial" panose="020B0604020202020204" pitchFamily="34" charset="0"/>
              </a:rPr>
              <a:t>.</a:t>
            </a:r>
          </a:p>
          <a:p>
            <a:r>
              <a:rPr lang="en-US" sz="1800" dirty="0">
                <a:latin typeface="Arial" panose="020B0604020202020204" pitchFamily="34" charset="0"/>
                <a:cs typeface="Arial" panose="020B0604020202020204" pitchFamily="34" charset="0"/>
              </a:rPr>
              <a:t>These models effectively captured the </a:t>
            </a:r>
            <a:r>
              <a:rPr lang="en-US" sz="1800" b="1" dirty="0">
                <a:latin typeface="Arial" panose="020B0604020202020204" pitchFamily="34" charset="0"/>
                <a:cs typeface="Arial" panose="020B0604020202020204" pitchFamily="34" charset="0"/>
              </a:rPr>
              <a:t>nonlinear and categorical relationships</a:t>
            </a:r>
            <a:r>
              <a:rPr lang="en-US" sz="1800" dirty="0">
                <a:latin typeface="Arial" panose="020B0604020202020204" pitchFamily="34" charset="0"/>
                <a:cs typeface="Arial" panose="020B0604020202020204" pitchFamily="34" charset="0"/>
              </a:rPr>
              <a:t> in the dataset, making them the best suited for real-world facility classification tasks.</a:t>
            </a:r>
          </a:p>
          <a:p>
            <a:pPr marL="0" indent="0">
              <a:buNone/>
            </a:pPr>
            <a:endParaRPr lang="en-US" sz="1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553581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693413C-C5D3-A4D8-8308-CEF6AE4C9EB4}"/>
              </a:ext>
            </a:extLst>
          </p:cNvPr>
          <p:cNvPicPr>
            <a:picLocks noChangeAspect="1"/>
          </p:cNvPicPr>
          <p:nvPr/>
        </p:nvPicPr>
        <p:blipFill>
          <a:blip r:embed="rId2"/>
          <a:stretch>
            <a:fillRect/>
          </a:stretch>
        </p:blipFill>
        <p:spPr>
          <a:xfrm>
            <a:off x="872459" y="1591556"/>
            <a:ext cx="3782040" cy="3102991"/>
          </a:xfrm>
          <a:prstGeom prst="rect">
            <a:avLst/>
          </a:prstGeom>
        </p:spPr>
      </p:pic>
      <p:pic>
        <p:nvPicPr>
          <p:cNvPr id="5" name="Picture 4">
            <a:extLst>
              <a:ext uri="{FF2B5EF4-FFF2-40B4-BE49-F238E27FC236}">
                <a16:creationId xmlns:a16="http://schemas.microsoft.com/office/drawing/2014/main" id="{C8CAA55C-A9D4-BA7F-6CD3-CFD563459EA9}"/>
              </a:ext>
            </a:extLst>
          </p:cNvPr>
          <p:cNvPicPr>
            <a:picLocks noChangeAspect="1"/>
          </p:cNvPicPr>
          <p:nvPr/>
        </p:nvPicPr>
        <p:blipFill>
          <a:blip r:embed="rId3"/>
          <a:stretch>
            <a:fillRect/>
          </a:stretch>
        </p:blipFill>
        <p:spPr>
          <a:xfrm>
            <a:off x="4803455" y="1692035"/>
            <a:ext cx="3468086" cy="3069964"/>
          </a:xfrm>
          <a:prstGeom prst="rect">
            <a:avLst/>
          </a:prstGeom>
        </p:spPr>
      </p:pic>
    </p:spTree>
    <p:extLst>
      <p:ext uri="{BB962C8B-B14F-4D97-AF65-F5344CB8AC3E}">
        <p14:creationId xmlns:p14="http://schemas.microsoft.com/office/powerpoint/2010/main" val="4174171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K-Means Clustering</a:t>
            </a:r>
          </a:p>
        </p:txBody>
      </p:sp>
      <p:sp>
        <p:nvSpPr>
          <p:cNvPr id="4" name="Rectangle 1">
            <a:extLst>
              <a:ext uri="{FF2B5EF4-FFF2-40B4-BE49-F238E27FC236}">
                <a16:creationId xmlns:a16="http://schemas.microsoft.com/office/drawing/2014/main" id="{4ACEAC9E-91AF-C3F1-71A2-EDFFB426FE6D}"/>
              </a:ext>
            </a:extLst>
          </p:cNvPr>
          <p:cNvSpPr>
            <a:spLocks noGrp="1" noChangeArrowheads="1"/>
          </p:cNvSpPr>
          <p:nvPr>
            <p:ph idx="1"/>
          </p:nvPr>
        </p:nvSpPr>
        <p:spPr bwMode="auto">
          <a:xfrm>
            <a:off x="457200" y="1474487"/>
            <a:ext cx="8385142"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Applied </a:t>
            </a: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K-Means clustering</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to group similar health facilities based on numerical and categorical features.</a:t>
            </a:r>
          </a:p>
          <a:p>
            <a:pPr defTabSz="914400" eaLnBrk="0" fontAlgn="base" hangingPunct="0">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Data was </a:t>
            </a: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standardized using </a:t>
            </a:r>
            <a:r>
              <a:rPr kumimoji="0" lang="en-US" altLang="en-US" sz="1800"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StandardScaler</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to ensure uniform scale across all attributes.</a:t>
            </a:r>
          </a:p>
          <a:p>
            <a:pPr defTabSz="914400" eaLnBrk="0" fontAlgn="base" hangingPunct="0">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Determined the optimal number of clusters (</a:t>
            </a: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k</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experimentally using visualization and performance checks.</a:t>
            </a:r>
          </a:p>
          <a:p>
            <a:pPr defTabSz="914400" eaLnBrk="0" fontAlgn="base" hangingPunct="0">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Used </a:t>
            </a: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Principal Component Analysis (PCA)</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to reduce dimensions and visualize clusters effectively.</a:t>
            </a:r>
          </a:p>
          <a:p>
            <a:pPr defTabSz="914400" eaLnBrk="0" fontAlgn="base" hangingPunct="0">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Generated </a:t>
            </a: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interactive visualizations</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such as:</a:t>
            </a:r>
          </a:p>
          <a:p>
            <a:pPr defTabSz="914400" eaLnBrk="0" fontAlgn="base" hangingPunct="0">
              <a:spcBef>
                <a:spcPct val="0"/>
              </a:spcBef>
              <a:spcAft>
                <a:spcPct val="0"/>
              </a:spcAft>
            </a:pP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Scatter plots (PCA-based)</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to display cluster separation.</a:t>
            </a:r>
          </a:p>
          <a:p>
            <a:pPr defTabSz="914400" eaLnBrk="0" fontAlgn="base" hangingPunct="0">
              <a:spcBef>
                <a:spcPct val="0"/>
              </a:spcBef>
              <a:spcAft>
                <a:spcPct val="0"/>
              </a:spcAft>
            </a:pP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Pie charts</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showing cluster distribution across facilities.</a:t>
            </a:r>
          </a:p>
          <a:p>
            <a:pPr defTabSz="914400" eaLnBrk="0" fontAlgn="base" hangingPunct="0">
              <a:spcBef>
                <a:spcPct val="0"/>
              </a:spcBef>
              <a:spcAft>
                <a:spcPct val="0"/>
              </a:spcAft>
            </a:pP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Radar charts</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highlighting the key characteristics of each cluster.</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Clustering helped identify </a:t>
            </a: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distinct facility groups</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based on capacity, type, and operational patterns.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Insights revealed </a:t>
            </a: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regional and functional segmentation</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within California’s health facilities.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813F79D7-413E-56D5-AA0C-4CD456D985DC}"/>
              </a:ext>
            </a:extLst>
          </p:cNvPr>
          <p:cNvSpPr/>
          <p:nvPr/>
        </p:nvSpPr>
        <p:spPr>
          <a:xfrm>
            <a:off x="311085" y="4185501"/>
            <a:ext cx="3912123" cy="1470581"/>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192E9453-6288-AE8B-1612-3C5CFEB903D6}"/>
              </a:ext>
            </a:extLst>
          </p:cNvPr>
          <p:cNvSpPr/>
          <p:nvPr/>
        </p:nvSpPr>
        <p:spPr>
          <a:xfrm>
            <a:off x="4835950" y="650449"/>
            <a:ext cx="4157221" cy="1385741"/>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pic>
        <p:nvPicPr>
          <p:cNvPr id="2" name="Picture 1">
            <a:extLst>
              <a:ext uri="{FF2B5EF4-FFF2-40B4-BE49-F238E27FC236}">
                <a16:creationId xmlns:a16="http://schemas.microsoft.com/office/drawing/2014/main" id="{17F76D81-4A7A-CC2D-B59B-C9DD8615B3F7}"/>
              </a:ext>
            </a:extLst>
          </p:cNvPr>
          <p:cNvPicPr>
            <a:picLocks noChangeAspect="1"/>
          </p:cNvPicPr>
          <p:nvPr/>
        </p:nvPicPr>
        <p:blipFill>
          <a:blip r:embed="rId2"/>
          <a:stretch>
            <a:fillRect/>
          </a:stretch>
        </p:blipFill>
        <p:spPr>
          <a:xfrm>
            <a:off x="-1" y="0"/>
            <a:ext cx="4561913" cy="3007151"/>
          </a:xfrm>
          <a:prstGeom prst="rect">
            <a:avLst/>
          </a:prstGeom>
        </p:spPr>
      </p:pic>
      <p:pic>
        <p:nvPicPr>
          <p:cNvPr id="3" name="Picture 2">
            <a:extLst>
              <a:ext uri="{FF2B5EF4-FFF2-40B4-BE49-F238E27FC236}">
                <a16:creationId xmlns:a16="http://schemas.microsoft.com/office/drawing/2014/main" id="{E694ED03-AA00-F5C5-4C14-5BFA5019C8E9}"/>
              </a:ext>
            </a:extLst>
          </p:cNvPr>
          <p:cNvPicPr>
            <a:picLocks noChangeAspect="1"/>
          </p:cNvPicPr>
          <p:nvPr/>
        </p:nvPicPr>
        <p:blipFill>
          <a:blip r:embed="rId3"/>
          <a:stretch>
            <a:fillRect/>
          </a:stretch>
        </p:blipFill>
        <p:spPr>
          <a:xfrm>
            <a:off x="4572000" y="3212397"/>
            <a:ext cx="4572000" cy="3645604"/>
          </a:xfrm>
          <a:prstGeom prst="rect">
            <a:avLst/>
          </a:prstGeom>
        </p:spPr>
      </p:pic>
      <p:sp>
        <p:nvSpPr>
          <p:cNvPr id="4" name="TextBox 3">
            <a:extLst>
              <a:ext uri="{FF2B5EF4-FFF2-40B4-BE49-F238E27FC236}">
                <a16:creationId xmlns:a16="http://schemas.microsoft.com/office/drawing/2014/main" id="{91F28007-10EE-EE82-10E3-27BF082F2E37}"/>
              </a:ext>
            </a:extLst>
          </p:cNvPr>
          <p:cNvSpPr txBox="1"/>
          <p:nvPr/>
        </p:nvSpPr>
        <p:spPr>
          <a:xfrm>
            <a:off x="4835950" y="725864"/>
            <a:ext cx="4044099" cy="1169551"/>
          </a:xfrm>
          <a:prstGeom prst="rect">
            <a:avLst/>
          </a:prstGeom>
          <a:noFill/>
        </p:spPr>
        <p:txBody>
          <a:bodyPr wrap="square" rtlCol="0">
            <a:spAutoFit/>
          </a:bodyPr>
          <a:lstStyle/>
          <a:p>
            <a:pPr algn="just"/>
            <a:r>
              <a:rPr lang="en-US" sz="1400" dirty="0">
                <a:latin typeface="Arial" panose="020B0604020202020204" pitchFamily="34" charset="0"/>
                <a:cs typeface="Arial" panose="020B0604020202020204" pitchFamily="34" charset="0"/>
              </a:rPr>
              <a:t>The elbow plot shows the relationship between the number of clusters (k) and inertia. The curve starts to flatten around k = 3, indicating that three clusters provide the optimal balance between model simplicity and cluster accuracy.</a:t>
            </a:r>
            <a:endParaRPr lang="en-IN" sz="1400" dirty="0">
              <a:latin typeface="Arial" panose="020B0604020202020204" pitchFamily="34" charset="0"/>
              <a:cs typeface="Arial" panose="020B0604020202020204" pitchFamily="34" charset="0"/>
            </a:endParaRPr>
          </a:p>
        </p:txBody>
      </p:sp>
      <p:cxnSp>
        <p:nvCxnSpPr>
          <p:cNvPr id="8" name="Straight Arrow Connector 7">
            <a:extLst>
              <a:ext uri="{FF2B5EF4-FFF2-40B4-BE49-F238E27FC236}">
                <a16:creationId xmlns:a16="http://schemas.microsoft.com/office/drawing/2014/main" id="{114D5F0F-BD06-1492-6252-D8B29973FCDC}"/>
              </a:ext>
            </a:extLst>
          </p:cNvPr>
          <p:cNvCxnSpPr/>
          <p:nvPr/>
        </p:nvCxnSpPr>
        <p:spPr>
          <a:xfrm flipV="1">
            <a:off x="4572000" y="2111604"/>
            <a:ext cx="980388" cy="47134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9" name="TextBox 8">
            <a:extLst>
              <a:ext uri="{FF2B5EF4-FFF2-40B4-BE49-F238E27FC236}">
                <a16:creationId xmlns:a16="http://schemas.microsoft.com/office/drawing/2014/main" id="{173F2B1C-87C2-EC84-2C2C-9F43817EA1CE}"/>
              </a:ext>
            </a:extLst>
          </p:cNvPr>
          <p:cNvSpPr txBox="1"/>
          <p:nvPr/>
        </p:nvSpPr>
        <p:spPr>
          <a:xfrm>
            <a:off x="395925" y="4270655"/>
            <a:ext cx="3629319" cy="1169551"/>
          </a:xfrm>
          <a:prstGeom prst="rect">
            <a:avLst/>
          </a:prstGeom>
          <a:noFill/>
        </p:spPr>
        <p:txBody>
          <a:bodyPr wrap="square" rtlCol="0">
            <a:spAutoFit/>
          </a:bodyPr>
          <a:lstStyle/>
          <a:p>
            <a:pPr algn="just"/>
            <a:r>
              <a:rPr lang="en-US" sz="1400" dirty="0">
                <a:latin typeface="Arial" panose="020B0604020202020204" pitchFamily="34" charset="0"/>
                <a:cs typeface="Arial" panose="020B0604020202020204" pitchFamily="34" charset="0"/>
              </a:rPr>
              <a:t>The PCA-based scatter plot visualizes the three clusters identified by the K-Means algorithm. Each color represents a distinct group of health facilities with similar operational and capacity characteristics.</a:t>
            </a:r>
            <a:endParaRPr lang="en-IN" sz="1400" dirty="0">
              <a:latin typeface="Arial" panose="020B0604020202020204" pitchFamily="34" charset="0"/>
              <a:cs typeface="Arial" panose="020B0604020202020204" pitchFamily="34" charset="0"/>
            </a:endParaRPr>
          </a:p>
        </p:txBody>
      </p:sp>
      <p:cxnSp>
        <p:nvCxnSpPr>
          <p:cNvPr id="13" name="Straight Arrow Connector 12">
            <a:extLst>
              <a:ext uri="{FF2B5EF4-FFF2-40B4-BE49-F238E27FC236}">
                <a16:creationId xmlns:a16="http://schemas.microsoft.com/office/drawing/2014/main" id="{D7081EF7-0A29-1E51-2A1A-6433C2F724F7}"/>
              </a:ext>
            </a:extLst>
          </p:cNvPr>
          <p:cNvCxnSpPr/>
          <p:nvPr/>
        </p:nvCxnSpPr>
        <p:spPr>
          <a:xfrm flipH="1" flipV="1">
            <a:off x="4025244" y="5788058"/>
            <a:ext cx="735292" cy="82013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3718781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EDEF1E05-1E3D-74FC-1720-A314FE0D8C0A}"/>
              </a:ext>
            </a:extLst>
          </p:cNvPr>
          <p:cNvSpPr/>
          <p:nvPr/>
        </p:nvSpPr>
        <p:spPr>
          <a:xfrm>
            <a:off x="980388" y="5118755"/>
            <a:ext cx="7268066" cy="1301526"/>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 name="TextBox 1">
            <a:extLst>
              <a:ext uri="{FF2B5EF4-FFF2-40B4-BE49-F238E27FC236}">
                <a16:creationId xmlns:a16="http://schemas.microsoft.com/office/drawing/2014/main" id="{138065B9-34F6-4FD2-2161-F5EAA56B1013}"/>
              </a:ext>
            </a:extLst>
          </p:cNvPr>
          <p:cNvSpPr txBox="1"/>
          <p:nvPr/>
        </p:nvSpPr>
        <p:spPr>
          <a:xfrm>
            <a:off x="2828041" y="141402"/>
            <a:ext cx="7428322" cy="769441"/>
          </a:xfrm>
          <a:prstGeom prst="rect">
            <a:avLst/>
          </a:prstGeom>
          <a:noFill/>
        </p:spPr>
        <p:txBody>
          <a:bodyPr wrap="square" rtlCol="0">
            <a:spAutoFit/>
          </a:bodyPr>
          <a:lstStyle/>
          <a:p>
            <a:r>
              <a:rPr lang="en-IN" sz="4400" dirty="0">
                <a:latin typeface="Times New Roman" panose="02020603050405020304" pitchFamily="18" charset="0"/>
                <a:cs typeface="Times New Roman" panose="02020603050405020304" pitchFamily="18" charset="0"/>
              </a:rPr>
              <a:t>Deep Learning</a:t>
            </a:r>
          </a:p>
        </p:txBody>
      </p:sp>
      <p:pic>
        <p:nvPicPr>
          <p:cNvPr id="3" name="Picture 2">
            <a:extLst>
              <a:ext uri="{FF2B5EF4-FFF2-40B4-BE49-F238E27FC236}">
                <a16:creationId xmlns:a16="http://schemas.microsoft.com/office/drawing/2014/main" id="{924CFCD4-6252-E952-6F63-9B24A37719EF}"/>
              </a:ext>
            </a:extLst>
          </p:cNvPr>
          <p:cNvPicPr>
            <a:picLocks noChangeAspect="1"/>
          </p:cNvPicPr>
          <p:nvPr/>
        </p:nvPicPr>
        <p:blipFill>
          <a:blip r:embed="rId2"/>
          <a:stretch>
            <a:fillRect/>
          </a:stretch>
        </p:blipFill>
        <p:spPr>
          <a:xfrm>
            <a:off x="1545994" y="1179770"/>
            <a:ext cx="5674937" cy="3788665"/>
          </a:xfrm>
          <a:prstGeom prst="rect">
            <a:avLst/>
          </a:prstGeom>
        </p:spPr>
      </p:pic>
      <p:sp>
        <p:nvSpPr>
          <p:cNvPr id="4" name="TextBox 3">
            <a:extLst>
              <a:ext uri="{FF2B5EF4-FFF2-40B4-BE49-F238E27FC236}">
                <a16:creationId xmlns:a16="http://schemas.microsoft.com/office/drawing/2014/main" id="{86C2AD00-C458-FAEE-C2C2-D519EEB896AA}"/>
              </a:ext>
            </a:extLst>
          </p:cNvPr>
          <p:cNvSpPr txBox="1"/>
          <p:nvPr/>
        </p:nvSpPr>
        <p:spPr>
          <a:xfrm>
            <a:off x="1112363" y="5250730"/>
            <a:ext cx="7136091" cy="1169551"/>
          </a:xfrm>
          <a:prstGeom prst="rect">
            <a:avLst/>
          </a:prstGeom>
          <a:noFill/>
        </p:spPr>
        <p:txBody>
          <a:bodyPr wrap="square" rtlCol="0">
            <a:spAutoFit/>
          </a:bodyPr>
          <a:lstStyle/>
          <a:p>
            <a:r>
              <a:rPr lang="en-US" sz="1400" i="1" dirty="0">
                <a:latin typeface="Arial" panose="020B0604020202020204" pitchFamily="34" charset="0"/>
                <a:cs typeface="Arial" panose="020B0604020202020204" pitchFamily="34" charset="0"/>
              </a:rPr>
              <a:t>The Training vs Validation Loss curve illustrates the model’s learning progress over 50 epochs. Both training and validation losses steadily decrease, indicating effective learning and good generalization. The validation loss stabilizes at a lower value than the training loss, suggesting the model fits the data well without overfitting and achieves strong predictive performance on unseen data.</a:t>
            </a:r>
            <a:endParaRPr lang="en-IN" sz="1400"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365882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61414" y="-174232"/>
            <a:ext cx="8229600" cy="1143000"/>
          </a:xfrm>
        </p:spPr>
        <p:txBody>
          <a:bodyPr>
            <a:normAutofit/>
          </a:bodyPr>
          <a:lstStyle/>
          <a:p>
            <a:r>
              <a:rPr sz="4000" dirty="0" err="1">
                <a:latin typeface="Times New Roman" panose="02020603050405020304" pitchFamily="18" charset="0"/>
                <a:cs typeface="Times New Roman" panose="02020603050405020304" pitchFamily="18" charset="0"/>
              </a:rPr>
              <a:t>Streamlit</a:t>
            </a:r>
            <a:r>
              <a:rPr sz="4000" dirty="0">
                <a:latin typeface="Times New Roman" panose="02020603050405020304" pitchFamily="18" charset="0"/>
                <a:cs typeface="Times New Roman" panose="02020603050405020304" pitchFamily="18" charset="0"/>
              </a:rPr>
              <a:t> App</a:t>
            </a:r>
          </a:p>
        </p:txBody>
      </p:sp>
      <p:pic>
        <p:nvPicPr>
          <p:cNvPr id="7" name="Picture 6">
            <a:extLst>
              <a:ext uri="{FF2B5EF4-FFF2-40B4-BE49-F238E27FC236}">
                <a16:creationId xmlns:a16="http://schemas.microsoft.com/office/drawing/2014/main" id="{F5CBD225-ADC9-4F57-CB34-57AF0CAC968D}"/>
              </a:ext>
            </a:extLst>
          </p:cNvPr>
          <p:cNvPicPr>
            <a:picLocks noChangeAspect="1"/>
          </p:cNvPicPr>
          <p:nvPr/>
        </p:nvPicPr>
        <p:blipFill>
          <a:blip r:embed="rId2"/>
          <a:stretch>
            <a:fillRect/>
          </a:stretch>
        </p:blipFill>
        <p:spPr>
          <a:xfrm>
            <a:off x="167606" y="968768"/>
            <a:ext cx="8798840" cy="50832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Key Takeaways</a:t>
            </a:r>
          </a:p>
        </p:txBody>
      </p:sp>
      <p:sp>
        <p:nvSpPr>
          <p:cNvPr id="4" name="Rectangle 1">
            <a:extLst>
              <a:ext uri="{FF2B5EF4-FFF2-40B4-BE49-F238E27FC236}">
                <a16:creationId xmlns:a16="http://schemas.microsoft.com/office/drawing/2014/main" id="{850140D8-4D71-2EFF-53C8-E3ED674167B8}"/>
              </a:ext>
            </a:extLst>
          </p:cNvPr>
          <p:cNvSpPr>
            <a:spLocks noGrp="1" noChangeArrowheads="1"/>
          </p:cNvSpPr>
          <p:nvPr>
            <p:ph idx="1"/>
          </p:nvPr>
        </p:nvSpPr>
        <p:spPr bwMode="auto">
          <a:xfrm>
            <a:off x="457200" y="1564495"/>
            <a:ext cx="8229601"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Implemented a complete </a:t>
            </a: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machine learning pipeline</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 from data preprocessing and EDA to model building and deployment.</a:t>
            </a:r>
          </a:p>
          <a:p>
            <a:pPr defTabSz="914400" eaLnBrk="0" fontAlgn="base" hangingPunct="0">
              <a:spcBef>
                <a:spcPct val="0"/>
              </a:spcBef>
              <a:spcAft>
                <a:spcPct val="0"/>
              </a:spcAft>
            </a:pP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Cleaned and standardized</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real-world health facility data to ensure high-quality analysis.</a:t>
            </a:r>
          </a:p>
          <a:p>
            <a:pPr defTabSz="914400" eaLnBrk="0" fontAlgn="base" hangingPunct="0">
              <a:spcBef>
                <a:spcPct val="0"/>
              </a:spcBef>
              <a:spcAft>
                <a:spcPct val="0"/>
              </a:spcAft>
            </a:pP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EDA revealed key insights</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 capacity was influenced by facility type, license details, and approval timelines.</a:t>
            </a:r>
          </a:p>
          <a:p>
            <a:pPr defTabSz="914400" eaLnBrk="0" fontAlgn="base" hangingPunct="0">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Compared multiple regression and classification models using </a:t>
            </a: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R², RMSE, and Accuracy</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metrics.</a:t>
            </a:r>
          </a:p>
          <a:p>
            <a:pPr defTabSz="914400" eaLnBrk="0" fontAlgn="base" hangingPunct="0">
              <a:spcBef>
                <a:spcPct val="0"/>
              </a:spcBef>
              <a:spcAft>
                <a:spcPct val="0"/>
              </a:spcAft>
            </a:pP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Ensemble models</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XGBoost</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LightGBM</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CatBoost</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achieved </a:t>
            </a: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highest predictive accuracy and stability</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p>
          <a:p>
            <a:pPr defTabSz="914400" eaLnBrk="0" fontAlgn="base" hangingPunct="0">
              <a:spcBef>
                <a:spcPct val="0"/>
              </a:spcBef>
              <a:spcAft>
                <a:spcPct val="0"/>
              </a:spcAft>
            </a:pP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K-Means clustering with PCA</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helped identify distinct facility groups and operational patterns.</a:t>
            </a:r>
          </a:p>
          <a:p>
            <a:pPr defTabSz="914400" eaLnBrk="0" fontAlgn="base" hangingPunct="0">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Demonstrated how </a:t>
            </a: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AI-driven analytics</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can enhance </a:t>
            </a: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healthcare planning and infrastructure decisions</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p>
          <a:p>
            <a:pPr defTabSz="914400" eaLnBrk="0" fontAlgn="base" hangingPunct="0">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Successfully </a:t>
            </a: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deployed</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the project via </a:t>
            </a:r>
            <a:r>
              <a:rPr kumimoji="0" lang="en-US" altLang="en-US" sz="1800"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Streamlit</a:t>
            </a: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Cloud</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for interactive and real-time use.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Future Enhancements</a:t>
            </a:r>
            <a:endParaRPr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6B23ADFC-99CC-CDE5-730D-6D679E03D219}"/>
              </a:ext>
            </a:extLst>
          </p:cNvPr>
          <p:cNvSpPr>
            <a:spLocks noGrp="1" noChangeArrowheads="1"/>
          </p:cNvSpPr>
          <p:nvPr>
            <p:ph idx="1"/>
          </p:nvPr>
        </p:nvSpPr>
        <p:spPr bwMode="auto">
          <a:xfrm>
            <a:off x="457200" y="1720840"/>
            <a:ext cx="82296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Integrate a </a:t>
            </a: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real-time prediction interface</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to estimate facility capacity from new input data.</a:t>
            </a:r>
          </a:p>
          <a:p>
            <a:pPr defTabSz="914400" eaLnBrk="0" fontAlgn="base" hangingPunct="0">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Incorporate </a:t>
            </a: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geospatial visualization (maps)</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to analyze regional healthcare distribution.</a:t>
            </a:r>
          </a:p>
          <a:p>
            <a:pPr defTabSz="914400" eaLnBrk="0" fontAlgn="base" hangingPunct="0">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Automate </a:t>
            </a: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EDA reporting</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with visual summaries and key insights.</a:t>
            </a:r>
          </a:p>
          <a:p>
            <a:pPr defTabSz="914400" eaLnBrk="0" fontAlgn="base" hangingPunct="0">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Include </a:t>
            </a: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advanced deep learning models</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for higher predictive accuracy.</a:t>
            </a:r>
          </a:p>
          <a:p>
            <a:pPr defTabSz="914400" eaLnBrk="0" fontAlgn="base" hangingPunct="0">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Expand the dataset with </a:t>
            </a: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temporal and demographic features</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for richer analysis.</a:t>
            </a:r>
          </a:p>
          <a:p>
            <a:pPr defTabSz="914400" eaLnBrk="0" fontAlgn="base" hangingPunct="0">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Enable </a:t>
            </a: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automated model retraining</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as new facility data becomes available.</a:t>
            </a:r>
          </a:p>
          <a:p>
            <a:pPr defTabSz="914400" eaLnBrk="0" fontAlgn="base" hangingPunct="0">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Build an </a:t>
            </a: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API or dashboard integration</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for government and healthcare stakeholders.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p:txBody>
          <a:bodyPr>
            <a:normAutofit/>
          </a:bodyPr>
          <a:lstStyle/>
          <a:p>
            <a:r>
              <a:rPr lang="en-US" sz="1800" dirty="0">
                <a:latin typeface="Arial" panose="020B0604020202020204" pitchFamily="34" charset="0"/>
                <a:cs typeface="Arial" panose="020B0604020202020204" pitchFamily="34" charset="0"/>
              </a:rPr>
              <a:t>The project successfully applied </a:t>
            </a:r>
            <a:r>
              <a:rPr lang="en-US" sz="1800" b="1" dirty="0">
                <a:latin typeface="Arial" panose="020B0604020202020204" pitchFamily="34" charset="0"/>
                <a:cs typeface="Arial" panose="020B0604020202020204" pitchFamily="34" charset="0"/>
              </a:rPr>
              <a:t>machine learning and data analytics</a:t>
            </a:r>
            <a:r>
              <a:rPr lang="en-US" sz="1800" dirty="0">
                <a:latin typeface="Arial" panose="020B0604020202020204" pitchFamily="34" charset="0"/>
                <a:cs typeface="Arial" panose="020B0604020202020204" pitchFamily="34" charset="0"/>
              </a:rPr>
              <a:t> to real-world healthcare data from California’s health facility listings.</a:t>
            </a:r>
          </a:p>
          <a:p>
            <a:r>
              <a:rPr lang="en-US" sz="1800" dirty="0">
                <a:latin typeface="Arial" panose="020B0604020202020204" pitchFamily="34" charset="0"/>
                <a:cs typeface="Arial" panose="020B0604020202020204" pitchFamily="34" charset="0"/>
              </a:rPr>
              <a:t>Implemented </a:t>
            </a:r>
            <a:r>
              <a:rPr lang="en-US" sz="1800" b="1" dirty="0">
                <a:latin typeface="Arial" panose="020B0604020202020204" pitchFamily="34" charset="0"/>
                <a:cs typeface="Arial" panose="020B0604020202020204" pitchFamily="34" charset="0"/>
              </a:rPr>
              <a:t>data preprocessing, EDA, regression, classification, and clustering</a:t>
            </a:r>
            <a:r>
              <a:rPr lang="en-US" sz="1800" dirty="0">
                <a:latin typeface="Arial" panose="020B0604020202020204" pitchFamily="34" charset="0"/>
                <a:cs typeface="Arial" panose="020B0604020202020204" pitchFamily="34" charset="0"/>
              </a:rPr>
              <a:t> to extract actionable insights.</a:t>
            </a:r>
          </a:p>
          <a:p>
            <a:r>
              <a:rPr lang="en-US" sz="1800" dirty="0">
                <a:latin typeface="Arial" panose="020B0604020202020204" pitchFamily="34" charset="0"/>
                <a:cs typeface="Arial" panose="020B0604020202020204" pitchFamily="34" charset="0"/>
              </a:rPr>
              <a:t>Achieved </a:t>
            </a:r>
            <a:r>
              <a:rPr lang="en-US" sz="1800" b="1" dirty="0">
                <a:latin typeface="Arial" panose="020B0604020202020204" pitchFamily="34" charset="0"/>
                <a:cs typeface="Arial" panose="020B0604020202020204" pitchFamily="34" charset="0"/>
              </a:rPr>
              <a:t>high model performance</a:t>
            </a:r>
            <a:r>
              <a:rPr lang="en-US" sz="1800" dirty="0">
                <a:latin typeface="Arial" panose="020B0604020202020204" pitchFamily="34" charset="0"/>
                <a:cs typeface="Arial" panose="020B0604020202020204" pitchFamily="34" charset="0"/>
              </a:rPr>
              <a:t>, with ensemble methods providing the most accurate predictions.</a:t>
            </a:r>
          </a:p>
          <a:p>
            <a:r>
              <a:rPr lang="en-US" sz="1800" b="1" dirty="0">
                <a:latin typeface="Arial" panose="020B0604020202020204" pitchFamily="34" charset="0"/>
                <a:cs typeface="Arial" panose="020B0604020202020204" pitchFamily="34" charset="0"/>
              </a:rPr>
              <a:t>K-Means clustering</a:t>
            </a:r>
            <a:r>
              <a:rPr lang="en-US" sz="1800" dirty="0">
                <a:latin typeface="Arial" panose="020B0604020202020204" pitchFamily="34" charset="0"/>
                <a:cs typeface="Arial" panose="020B0604020202020204" pitchFamily="34" charset="0"/>
              </a:rPr>
              <a:t> effectively grouped facilities based on operational and capacity characteristics.</a:t>
            </a:r>
          </a:p>
          <a:p>
            <a:r>
              <a:rPr lang="en-US" sz="1800" dirty="0">
                <a:latin typeface="Arial" panose="020B0604020202020204" pitchFamily="34" charset="0"/>
                <a:cs typeface="Arial" panose="020B0604020202020204" pitchFamily="34" charset="0"/>
              </a:rPr>
              <a:t>Demonstrated the </a:t>
            </a:r>
            <a:r>
              <a:rPr lang="en-US" sz="1800" b="1" dirty="0">
                <a:latin typeface="Arial" panose="020B0604020202020204" pitchFamily="34" charset="0"/>
                <a:cs typeface="Arial" panose="020B0604020202020204" pitchFamily="34" charset="0"/>
              </a:rPr>
              <a:t>value of AI-driven analytics</a:t>
            </a:r>
            <a:r>
              <a:rPr lang="en-US" sz="1800" dirty="0">
                <a:latin typeface="Arial" panose="020B0604020202020204" pitchFamily="34" charset="0"/>
                <a:cs typeface="Arial" panose="020B0604020202020204" pitchFamily="34" charset="0"/>
              </a:rPr>
              <a:t> in improving healthcare resource management and policy decisions.</a:t>
            </a:r>
          </a:p>
          <a:p>
            <a:r>
              <a:rPr lang="en-US" sz="1800" dirty="0">
                <a:latin typeface="Arial" panose="020B0604020202020204" pitchFamily="34" charset="0"/>
                <a:cs typeface="Arial" panose="020B0604020202020204" pitchFamily="34" charset="0"/>
              </a:rPr>
              <a:t>The system was </a:t>
            </a:r>
            <a:r>
              <a:rPr lang="en-US" sz="1800" b="1" dirty="0">
                <a:latin typeface="Arial" panose="020B0604020202020204" pitchFamily="34" charset="0"/>
                <a:cs typeface="Arial" panose="020B0604020202020204" pitchFamily="34" charset="0"/>
              </a:rPr>
              <a:t>deployed using </a:t>
            </a:r>
            <a:r>
              <a:rPr lang="en-US" sz="1800" b="1" dirty="0" err="1">
                <a:latin typeface="Arial" panose="020B0604020202020204" pitchFamily="34" charset="0"/>
                <a:cs typeface="Arial" panose="020B0604020202020204" pitchFamily="34" charset="0"/>
              </a:rPr>
              <a:t>Streamlit</a:t>
            </a:r>
            <a:r>
              <a:rPr lang="en-US" sz="1800" b="1" dirty="0">
                <a:latin typeface="Arial" panose="020B0604020202020204" pitchFamily="34" charset="0"/>
                <a:cs typeface="Arial" panose="020B0604020202020204" pitchFamily="34" charset="0"/>
              </a:rPr>
              <a:t> Cloud</a:t>
            </a:r>
            <a:r>
              <a:rPr lang="en-US" sz="1800" dirty="0">
                <a:latin typeface="Arial" panose="020B0604020202020204" pitchFamily="34" charset="0"/>
                <a:cs typeface="Arial" panose="020B0604020202020204" pitchFamily="34" charset="0"/>
              </a:rPr>
              <a:t>, making it interactive, accessible, and scalable for future applications.</a:t>
            </a:r>
          </a:p>
          <a:p>
            <a:pPr marL="0" indent="0">
              <a:buNone/>
            </a:pPr>
            <a:endParaRPr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200</TotalTime>
  <Words>1479</Words>
  <Application>Microsoft Office PowerPoint</Application>
  <PresentationFormat>On-screen Show (4:3)</PresentationFormat>
  <Paragraphs>105</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Times New Roman</vt:lpstr>
      <vt:lpstr>Office Theme</vt:lpstr>
      <vt:lpstr>MACHINE LEARNING PROJECT</vt:lpstr>
      <vt:lpstr>Project Overview</vt:lpstr>
      <vt:lpstr>PowerPoint Presentation</vt:lpstr>
      <vt:lpstr>Dataset Information</vt:lpstr>
      <vt:lpstr>Data Preprocessing</vt:lpstr>
      <vt:lpstr>PowerPoint Presentation</vt:lpstr>
      <vt:lpstr>Regression Models</vt:lpstr>
      <vt:lpstr>Regression Models</vt:lpstr>
      <vt:lpstr>Classification Models</vt:lpstr>
      <vt:lpstr>Classification Models</vt:lpstr>
      <vt:lpstr>PowerPoint Presentation</vt:lpstr>
      <vt:lpstr>K-Means Clustering</vt:lpstr>
      <vt:lpstr>PowerPoint Presentation</vt:lpstr>
      <vt:lpstr>PowerPoint Presentation</vt:lpstr>
      <vt:lpstr>Streamlit App</vt:lpstr>
      <vt:lpstr>Key Takeaways</vt:lpstr>
      <vt:lpstr>Future Enhancements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Tamanna Vaikkath</dc:creator>
  <cp:keywords/>
  <dc:description>generated using python-pptx</dc:description>
  <cp:lastModifiedBy>Tamanna Vaikkath</cp:lastModifiedBy>
  <cp:revision>8</cp:revision>
  <dcterms:created xsi:type="dcterms:W3CDTF">2013-01-27T09:14:16Z</dcterms:created>
  <dcterms:modified xsi:type="dcterms:W3CDTF">2025-10-31T14:41:27Z</dcterms:modified>
  <cp:category/>
</cp:coreProperties>
</file>